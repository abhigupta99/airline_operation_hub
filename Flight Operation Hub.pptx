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98" r:id="rId3"/>
    <p:sldId id="272" r:id="rId4"/>
    <p:sldId id="258" r:id="rId5"/>
    <p:sldId id="300" r:id="rId6"/>
    <p:sldId id="301" r:id="rId7"/>
    <p:sldId id="302" r:id="rId8"/>
    <p:sldId id="266" r:id="rId9"/>
    <p:sldId id="268" r:id="rId10"/>
    <p:sldId id="289" r:id="rId11"/>
    <p:sldId id="275" r:id="rId12"/>
    <p:sldId id="288" r:id="rId13"/>
    <p:sldId id="290" r:id="rId14"/>
    <p:sldId id="291" r:id="rId15"/>
    <p:sldId id="286" r:id="rId16"/>
    <p:sldId id="276" r:id="rId17"/>
    <p:sldId id="294" r:id="rId18"/>
    <p:sldId id="28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675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660"/>
  </p:normalViewPr>
  <p:slideViewPr>
    <p:cSldViewPr snapToGrid="0">
      <p:cViewPr>
        <p:scale>
          <a:sx n="66" d="100"/>
          <a:sy n="66" d="100"/>
        </p:scale>
        <p:origin x="1166" y="7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570840E-C011-4C25-B259-5EAAA6CD79DB}" type="datetimeFigureOut">
              <a:rPr lang="en-IN" smtClean="0"/>
              <a:t>11-04-2025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F598D-4087-4021-AE95-39A4275A7901}"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570840E-C011-4C25-B259-5EAAA6CD79DB}" type="datetimeFigureOut">
              <a:rPr lang="en-IN" smtClean="0"/>
              <a:t>11-04-2025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F598D-4087-4021-AE95-39A4275A7901}"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70840E-C011-4C25-B259-5EAAA6CD79DB}" type="datetimeFigureOut">
              <a:rPr lang="en-IN" smtClean="0"/>
              <a:t>11-04-2025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F598D-4087-4021-AE95-39A4275A7901}"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570840E-C011-4C25-B259-5EAAA6CD79DB}" type="datetimeFigureOut">
              <a:rPr lang="en-IN" smtClean="0"/>
              <a:t>11-04-2025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1F598D-4087-4021-AE95-39A4275A7901}"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570840E-C011-4C25-B259-5EAAA6CD79DB}" type="datetimeFigureOut">
              <a:rPr lang="en-IN" smtClean="0"/>
              <a:t>11-04-2025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11F598D-4087-4021-AE95-39A4275A7901}"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570840E-C011-4C25-B259-5EAAA6CD79DB}" type="datetimeFigureOut">
              <a:rPr lang="en-IN" smtClean="0"/>
              <a:t>11-04-2025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11F598D-4087-4021-AE95-39A4275A7901}"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70840E-C011-4C25-B259-5EAAA6CD79DB}" type="datetimeFigureOut">
              <a:rPr lang="en-IN" smtClean="0"/>
              <a:t>11-04-2025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11F598D-4087-4021-AE95-39A4275A7901}"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70840E-C011-4C25-B259-5EAAA6CD79DB}" type="datetimeFigureOut">
              <a:rPr lang="en-IN" smtClean="0"/>
              <a:t>11-04-2025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1F598D-4087-4021-AE95-39A4275A7901}"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70840E-C011-4C25-B259-5EAAA6CD79DB}" type="datetimeFigureOut">
              <a:rPr lang="en-IN" smtClean="0"/>
              <a:t>11-04-2025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1F598D-4087-4021-AE95-39A4275A7901}"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570840E-C011-4C25-B259-5EAAA6CD79DB}" type="datetimeFigureOut">
              <a:rPr lang="en-IN" smtClean="0"/>
              <a:t>11-04-2025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F598D-4087-4021-AE95-39A4275A7901}"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570840E-C011-4C25-B259-5EAAA6CD79DB}" type="datetimeFigureOut">
              <a:rPr lang="en-IN" smtClean="0"/>
              <a:t>11-04-2025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F598D-4087-4021-AE95-39A4275A7901}"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70840E-C011-4C25-B259-5EAAA6CD79DB}" type="datetimeFigureOut">
              <a:rPr lang="en-IN" smtClean="0"/>
              <a:t>11-04-2025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1F598D-4087-4021-AE95-39A4275A790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59742" y="2613392"/>
            <a:ext cx="8280399" cy="1631216"/>
          </a:xfrm>
          <a:prstGeom prst="rect">
            <a:avLst/>
          </a:prstGeom>
          <a:noFill/>
        </p:spPr>
        <p:txBody>
          <a:bodyPr wrap="square" rtlCol="0">
            <a:spAutoFit/>
          </a:bodyPr>
          <a:lstStyle/>
          <a:p>
            <a:r>
              <a:rPr lang="en-IN" sz="10000" dirty="0">
                <a:solidFill>
                  <a:schemeClr val="bg1"/>
                </a:solidFill>
                <a:latin typeface="Inter Black" panose="020B0A02050000000004" pitchFamily="34" charset="0"/>
                <a:ea typeface="Inter Black" panose="020B0A02050000000004" pitchFamily="34" charset="0"/>
              </a:rPr>
              <a:t>WELCOME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38806" y="1863016"/>
            <a:ext cx="10751419" cy="769441"/>
          </a:xfrm>
          <a:prstGeom prst="rect">
            <a:avLst/>
          </a:prstGeom>
          <a:noFill/>
        </p:spPr>
        <p:txBody>
          <a:bodyPr wrap="square" rtlCol="0">
            <a:spAutoFit/>
          </a:bodyPr>
          <a:lstStyle/>
          <a:p>
            <a:pPr algn="ctr"/>
            <a:r>
              <a:rPr lang="en-IN" sz="4400" b="1" dirty="0">
                <a:solidFill>
                  <a:schemeClr val="bg1"/>
                </a:solidFill>
                <a:latin typeface="Inter Black" panose="020B0A02050000000004" pitchFamily="34" charset="0"/>
                <a:ea typeface="Inter Black" panose="020B0A02050000000004" pitchFamily="34" charset="0"/>
              </a:rPr>
              <a:t>Flight Operation Hub</a:t>
            </a:r>
          </a:p>
        </p:txBody>
      </p:sp>
      <p:sp>
        <p:nvSpPr>
          <p:cNvPr id="4" name="TextBox 3"/>
          <p:cNvSpPr txBox="1"/>
          <p:nvPr/>
        </p:nvSpPr>
        <p:spPr>
          <a:xfrm>
            <a:off x="4211922" y="3991651"/>
            <a:ext cx="4166140" cy="2677656"/>
          </a:xfrm>
          <a:prstGeom prst="rect">
            <a:avLst/>
          </a:prstGeom>
          <a:noFill/>
        </p:spPr>
        <p:txBody>
          <a:bodyPr wrap="square">
            <a:spAutoFit/>
          </a:bodyPr>
          <a:lstStyle/>
          <a:p>
            <a:r>
              <a:rPr lang="en-GB" altLang="en-US" sz="1600" b="1" dirty="0">
                <a:solidFill>
                  <a:schemeClr val="bg1"/>
                </a:solidFill>
              </a:rPr>
              <a:t>Developed by</a:t>
            </a:r>
            <a:r>
              <a:rPr lang="en-GB" altLang="en-US" sz="1600" dirty="0">
                <a:solidFill>
                  <a:schemeClr val="bg1"/>
                </a:solidFill>
              </a:rPr>
              <a:t>:-</a:t>
            </a:r>
            <a:r>
              <a:rPr lang="en-GB" altLang="en-US" sz="1400" dirty="0">
                <a:solidFill>
                  <a:schemeClr val="bg1"/>
                </a:solidFill>
              </a:rPr>
              <a:t>  </a:t>
            </a:r>
            <a:r>
              <a:rPr lang="en-GB" altLang="en-US" sz="1800" dirty="0">
                <a:solidFill>
                  <a:schemeClr val="bg1"/>
                </a:solidFill>
              </a:rPr>
              <a:t>Abhi Gupta  </a:t>
            </a:r>
            <a:endParaRPr lang="en-GB" altLang="en-US" sz="1400" dirty="0">
              <a:solidFill>
                <a:schemeClr val="bg1"/>
              </a:solidFill>
            </a:endParaRPr>
          </a:p>
          <a:p>
            <a:r>
              <a:rPr lang="en-GB" altLang="en-US" dirty="0">
                <a:solidFill>
                  <a:schemeClr val="bg1"/>
                </a:solidFill>
              </a:rPr>
              <a:t>                          </a:t>
            </a:r>
            <a:r>
              <a:rPr lang="en-GB" altLang="en-US" sz="1800" dirty="0">
                <a:solidFill>
                  <a:schemeClr val="bg1"/>
                </a:solidFill>
              </a:rPr>
              <a:t>Omkar </a:t>
            </a:r>
            <a:r>
              <a:rPr lang="en-GB" altLang="en-US" sz="1800" dirty="0" err="1">
                <a:solidFill>
                  <a:schemeClr val="bg1"/>
                </a:solidFill>
              </a:rPr>
              <a:t>Katore</a:t>
            </a:r>
            <a:endParaRPr lang="en-GB" altLang="en-US" sz="1400" dirty="0">
              <a:solidFill>
                <a:schemeClr val="bg1"/>
              </a:solidFill>
            </a:endParaRPr>
          </a:p>
          <a:p>
            <a:endParaRPr lang="en-GB" altLang="en-US" sz="1400" dirty="0">
              <a:solidFill>
                <a:schemeClr val="bg1"/>
              </a:solidFill>
            </a:endParaRPr>
          </a:p>
          <a:p>
            <a:r>
              <a:rPr lang="en-GB" altLang="en-US" sz="1600" b="1" dirty="0">
                <a:solidFill>
                  <a:schemeClr val="bg1"/>
                </a:solidFill>
              </a:rPr>
              <a:t>Project Guide:- </a:t>
            </a:r>
            <a:r>
              <a:rPr lang="en-GB" altLang="en-US" sz="1800" u="sng" dirty="0">
                <a:solidFill>
                  <a:schemeClr val="bg1"/>
                </a:solidFill>
              </a:rPr>
              <a:t>Dr . Kamlesh </a:t>
            </a:r>
            <a:r>
              <a:rPr lang="en-GB" altLang="en-US" sz="1800" u="sng" dirty="0" err="1">
                <a:solidFill>
                  <a:schemeClr val="bg1"/>
                </a:solidFill>
              </a:rPr>
              <a:t>Meshram</a:t>
            </a:r>
            <a:r>
              <a:rPr lang="en-GB" altLang="en-US" sz="1800" u="sng" dirty="0">
                <a:solidFill>
                  <a:schemeClr val="bg1"/>
                </a:solidFill>
              </a:rPr>
              <a:t> Sir</a:t>
            </a:r>
          </a:p>
          <a:p>
            <a:r>
              <a:rPr lang="en-GB" altLang="en-US" sz="1600" b="1" dirty="0">
                <a:solidFill>
                  <a:schemeClr val="bg1"/>
                </a:solidFill>
              </a:rPr>
              <a:t>Project Mentor:-</a:t>
            </a:r>
            <a:r>
              <a:rPr lang="en-GB" altLang="en-US" sz="1600" dirty="0">
                <a:solidFill>
                  <a:schemeClr val="bg1"/>
                </a:solidFill>
              </a:rPr>
              <a:t> </a:t>
            </a:r>
            <a:r>
              <a:rPr lang="en-GB" altLang="en-US" u="sng" dirty="0">
                <a:solidFill>
                  <a:schemeClr val="bg1"/>
                </a:solidFill>
              </a:rPr>
              <a:t>Sanjay Dandle Sir</a:t>
            </a:r>
          </a:p>
          <a:p>
            <a:endParaRPr lang="en-GB" altLang="en-US" sz="1400" dirty="0">
              <a:solidFill>
                <a:schemeClr val="bg1"/>
              </a:solidFill>
            </a:endParaRPr>
          </a:p>
          <a:p>
            <a:r>
              <a:rPr lang="en-GB" altLang="en-US" sz="1600" b="1" dirty="0">
                <a:solidFill>
                  <a:schemeClr val="bg1"/>
                </a:solidFill>
              </a:rPr>
              <a:t>Presentation by:</a:t>
            </a:r>
            <a:r>
              <a:rPr lang="en-GB" altLang="en-US" sz="1600" dirty="0">
                <a:solidFill>
                  <a:schemeClr val="bg1"/>
                </a:solidFill>
              </a:rPr>
              <a:t>-</a:t>
            </a:r>
            <a:r>
              <a:rPr lang="en-GB" altLang="en-US" sz="1400" dirty="0">
                <a:solidFill>
                  <a:schemeClr val="bg1"/>
                </a:solidFill>
              </a:rPr>
              <a:t> </a:t>
            </a:r>
            <a:r>
              <a:rPr lang="en-GB" altLang="en-US" sz="1800" dirty="0">
                <a:solidFill>
                  <a:schemeClr val="bg1"/>
                </a:solidFill>
              </a:rPr>
              <a:t>Abhi Gupta</a:t>
            </a:r>
          </a:p>
          <a:p>
            <a:r>
              <a:rPr lang="en-GB" altLang="en-US" dirty="0">
                <a:solidFill>
                  <a:schemeClr val="bg1"/>
                </a:solidFill>
              </a:rPr>
              <a:t>	           Omkar Katore</a:t>
            </a:r>
          </a:p>
          <a:p>
            <a:endParaRPr lang="en-GB" altLang="en-US" sz="1400" dirty="0">
              <a:solidFill>
                <a:schemeClr val="bg1"/>
              </a:solidFill>
            </a:endParaRPr>
          </a:p>
          <a:p>
            <a:endParaRPr lang="en-IN"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873829" cy="685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410547" y="233265"/>
            <a:ext cx="1791477" cy="523220"/>
          </a:xfrm>
          <a:prstGeom prst="rect">
            <a:avLst/>
          </a:prstGeom>
          <a:solidFill>
            <a:schemeClr val="accent6">
              <a:lumMod val="75000"/>
            </a:schemeClr>
          </a:solidFill>
        </p:spPr>
        <p:txBody>
          <a:bodyPr wrap="square" rtlCol="0">
            <a:spAutoFit/>
          </a:bodyPr>
          <a:lstStyle/>
          <a:p>
            <a:r>
              <a:rPr lang="en-IN" sz="2800" b="1" dirty="0"/>
              <a:t>CONTENTS</a:t>
            </a:r>
          </a:p>
        </p:txBody>
      </p:sp>
      <p:sp>
        <p:nvSpPr>
          <p:cNvPr id="4" name="TextBox 3"/>
          <p:cNvSpPr txBox="1"/>
          <p:nvPr/>
        </p:nvSpPr>
        <p:spPr>
          <a:xfrm>
            <a:off x="93306" y="1619887"/>
            <a:ext cx="2276669" cy="461665"/>
          </a:xfrm>
          <a:prstGeom prst="rect">
            <a:avLst/>
          </a:prstGeom>
          <a:noFill/>
        </p:spPr>
        <p:txBody>
          <a:bodyPr wrap="square" rtlCol="0">
            <a:spAutoFit/>
          </a:bodyPr>
          <a:lstStyle/>
          <a:p>
            <a:r>
              <a:rPr lang="en-IN" sz="2400" b="1" dirty="0"/>
              <a:t>INTRODUCTION</a:t>
            </a:r>
          </a:p>
        </p:txBody>
      </p:sp>
      <p:sp>
        <p:nvSpPr>
          <p:cNvPr id="5" name="TextBox 4"/>
          <p:cNvSpPr txBox="1"/>
          <p:nvPr/>
        </p:nvSpPr>
        <p:spPr>
          <a:xfrm>
            <a:off x="149290" y="2900090"/>
            <a:ext cx="1772816" cy="461665"/>
          </a:xfrm>
          <a:prstGeom prst="rect">
            <a:avLst/>
          </a:prstGeom>
          <a:noFill/>
        </p:spPr>
        <p:txBody>
          <a:bodyPr wrap="square" rtlCol="0">
            <a:spAutoFit/>
          </a:bodyPr>
          <a:lstStyle/>
          <a:p>
            <a:r>
              <a:rPr lang="en-IN" sz="2400" b="1" dirty="0">
                <a:solidFill>
                  <a:schemeClr val="tx1">
                    <a:lumMod val="50000"/>
                    <a:lumOff val="50000"/>
                  </a:schemeClr>
                </a:solidFill>
              </a:rPr>
              <a:t>OBJECTIVES</a:t>
            </a:r>
          </a:p>
        </p:txBody>
      </p:sp>
      <p:sp>
        <p:nvSpPr>
          <p:cNvPr id="6" name="TextBox 5"/>
          <p:cNvSpPr txBox="1"/>
          <p:nvPr/>
        </p:nvSpPr>
        <p:spPr>
          <a:xfrm>
            <a:off x="125962" y="4180293"/>
            <a:ext cx="2276669" cy="461665"/>
          </a:xfrm>
          <a:prstGeom prst="rect">
            <a:avLst/>
          </a:prstGeom>
          <a:noFill/>
        </p:spPr>
        <p:txBody>
          <a:bodyPr wrap="square" rtlCol="0">
            <a:spAutoFit/>
          </a:bodyPr>
          <a:lstStyle/>
          <a:p>
            <a:r>
              <a:rPr lang="en-IN" sz="2400" b="1" dirty="0">
                <a:solidFill>
                  <a:schemeClr val="tx1">
                    <a:lumMod val="50000"/>
                    <a:lumOff val="50000"/>
                  </a:schemeClr>
                </a:solidFill>
              </a:rPr>
              <a:t>METHODOLOGY</a:t>
            </a:r>
          </a:p>
        </p:txBody>
      </p:sp>
      <p:sp>
        <p:nvSpPr>
          <p:cNvPr id="8" name="TextBox 7"/>
          <p:cNvSpPr txBox="1"/>
          <p:nvPr/>
        </p:nvSpPr>
        <p:spPr>
          <a:xfrm>
            <a:off x="93307" y="5460496"/>
            <a:ext cx="2108718" cy="461665"/>
          </a:xfrm>
          <a:prstGeom prst="rect">
            <a:avLst/>
          </a:prstGeom>
          <a:noFill/>
        </p:spPr>
        <p:txBody>
          <a:bodyPr wrap="square" rtlCol="0">
            <a:spAutoFit/>
          </a:bodyPr>
          <a:lstStyle/>
          <a:p>
            <a:r>
              <a:rPr lang="en-IN" sz="2400" b="1" dirty="0">
                <a:solidFill>
                  <a:schemeClr val="tx1">
                    <a:lumMod val="50000"/>
                    <a:lumOff val="50000"/>
                  </a:schemeClr>
                </a:solidFill>
              </a:rPr>
              <a:t>FUTURE SCOPE</a:t>
            </a:r>
          </a:p>
        </p:txBody>
      </p:sp>
      <p:cxnSp>
        <p:nvCxnSpPr>
          <p:cNvPr id="15" name="Straight Connector 14"/>
          <p:cNvCxnSpPr/>
          <p:nvPr/>
        </p:nvCxnSpPr>
        <p:spPr>
          <a:xfrm>
            <a:off x="0" y="1026367"/>
            <a:ext cx="2873829"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3076" name="Picture 4" descr="Introduction Images - Free Download on Freepi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5601" y="1464384"/>
            <a:ext cx="6176853" cy="4114613"/>
          </a:xfrm>
          <a:prstGeom prst="rect">
            <a:avLst/>
          </a:prstGeom>
          <a:noFill/>
          <a:extLst>
            <a:ext uri="{909E8E84-426E-40DD-AFC4-6F175D3DCCD1}">
              <a14:hiddenFill xmlns:a14="http://schemas.microsoft.com/office/drawing/2010/main">
                <a:solidFill>
                  <a:srgbClr val="FFFFFF"/>
                </a:solidFill>
              </a14:hiddenFill>
            </a:ext>
          </a:extLst>
        </p:spPr>
      </p:pic>
      <p:sp>
        <p:nvSpPr>
          <p:cNvPr id="7" name="Arrow: Down 6"/>
          <p:cNvSpPr/>
          <p:nvPr/>
        </p:nvSpPr>
        <p:spPr>
          <a:xfrm>
            <a:off x="2412573" y="4683684"/>
            <a:ext cx="315824" cy="461662"/>
          </a:xfrm>
          <a:prstGeom prst="down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Down 9"/>
          <p:cNvSpPr/>
          <p:nvPr/>
        </p:nvSpPr>
        <p:spPr>
          <a:xfrm>
            <a:off x="2402631" y="3998005"/>
            <a:ext cx="315824" cy="461662"/>
          </a:xfrm>
          <a:prstGeom prst="down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Down 10"/>
          <p:cNvSpPr/>
          <p:nvPr/>
        </p:nvSpPr>
        <p:spPr>
          <a:xfrm>
            <a:off x="2402631" y="3311718"/>
            <a:ext cx="315824" cy="461662"/>
          </a:xfrm>
          <a:prstGeom prst="down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Down 11"/>
          <p:cNvSpPr/>
          <p:nvPr/>
        </p:nvSpPr>
        <p:spPr>
          <a:xfrm>
            <a:off x="2412573" y="2622959"/>
            <a:ext cx="315824" cy="461662"/>
          </a:xfrm>
          <a:prstGeom prst="down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Down 13"/>
          <p:cNvSpPr/>
          <p:nvPr/>
        </p:nvSpPr>
        <p:spPr>
          <a:xfrm>
            <a:off x="2412573" y="1936672"/>
            <a:ext cx="315824" cy="461662"/>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Down 15"/>
          <p:cNvSpPr/>
          <p:nvPr/>
        </p:nvSpPr>
        <p:spPr>
          <a:xfrm>
            <a:off x="2412573" y="5369363"/>
            <a:ext cx="315824" cy="461662"/>
          </a:xfrm>
          <a:prstGeom prst="down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Down 16"/>
          <p:cNvSpPr/>
          <p:nvPr/>
        </p:nvSpPr>
        <p:spPr>
          <a:xfrm>
            <a:off x="2402631" y="1249149"/>
            <a:ext cx="315824" cy="461662"/>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873829" cy="685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410547" y="233265"/>
            <a:ext cx="1791477" cy="523220"/>
          </a:xfrm>
          <a:prstGeom prst="rect">
            <a:avLst/>
          </a:prstGeom>
          <a:solidFill>
            <a:schemeClr val="accent6">
              <a:lumMod val="75000"/>
            </a:schemeClr>
          </a:solidFill>
        </p:spPr>
        <p:txBody>
          <a:bodyPr wrap="square" rtlCol="0">
            <a:spAutoFit/>
          </a:bodyPr>
          <a:lstStyle/>
          <a:p>
            <a:r>
              <a:rPr lang="en-IN" sz="2800" b="1" dirty="0"/>
              <a:t>CONTENTS</a:t>
            </a:r>
          </a:p>
        </p:txBody>
      </p:sp>
      <p:sp>
        <p:nvSpPr>
          <p:cNvPr id="4" name="TextBox 3"/>
          <p:cNvSpPr txBox="1"/>
          <p:nvPr/>
        </p:nvSpPr>
        <p:spPr>
          <a:xfrm>
            <a:off x="93306" y="1619887"/>
            <a:ext cx="2276669" cy="461665"/>
          </a:xfrm>
          <a:prstGeom prst="rect">
            <a:avLst/>
          </a:prstGeom>
          <a:noFill/>
        </p:spPr>
        <p:txBody>
          <a:bodyPr wrap="square" rtlCol="0">
            <a:spAutoFit/>
          </a:bodyPr>
          <a:lstStyle/>
          <a:p>
            <a:r>
              <a:rPr lang="en-IN" sz="2400" b="1" dirty="0"/>
              <a:t>INTRODUCTION</a:t>
            </a:r>
          </a:p>
        </p:txBody>
      </p:sp>
      <p:sp>
        <p:nvSpPr>
          <p:cNvPr id="5" name="TextBox 4"/>
          <p:cNvSpPr txBox="1"/>
          <p:nvPr/>
        </p:nvSpPr>
        <p:spPr>
          <a:xfrm>
            <a:off x="149290" y="2900090"/>
            <a:ext cx="1772816" cy="461665"/>
          </a:xfrm>
          <a:prstGeom prst="rect">
            <a:avLst/>
          </a:prstGeom>
          <a:noFill/>
        </p:spPr>
        <p:txBody>
          <a:bodyPr wrap="square" rtlCol="0">
            <a:spAutoFit/>
          </a:bodyPr>
          <a:lstStyle/>
          <a:p>
            <a:r>
              <a:rPr lang="en-IN" sz="2400" b="1" dirty="0">
                <a:solidFill>
                  <a:schemeClr val="tx1">
                    <a:lumMod val="50000"/>
                    <a:lumOff val="50000"/>
                  </a:schemeClr>
                </a:solidFill>
              </a:rPr>
              <a:t>OBJECTIVES</a:t>
            </a:r>
          </a:p>
        </p:txBody>
      </p:sp>
      <p:sp>
        <p:nvSpPr>
          <p:cNvPr id="6" name="TextBox 5"/>
          <p:cNvSpPr txBox="1"/>
          <p:nvPr/>
        </p:nvSpPr>
        <p:spPr>
          <a:xfrm>
            <a:off x="125962" y="4180293"/>
            <a:ext cx="2276669" cy="461665"/>
          </a:xfrm>
          <a:prstGeom prst="rect">
            <a:avLst/>
          </a:prstGeom>
          <a:noFill/>
        </p:spPr>
        <p:txBody>
          <a:bodyPr wrap="square" rtlCol="0">
            <a:spAutoFit/>
          </a:bodyPr>
          <a:lstStyle/>
          <a:p>
            <a:r>
              <a:rPr lang="en-IN" sz="2400" b="1" dirty="0">
                <a:solidFill>
                  <a:schemeClr val="tx1">
                    <a:lumMod val="50000"/>
                    <a:lumOff val="50000"/>
                  </a:schemeClr>
                </a:solidFill>
              </a:rPr>
              <a:t>METHODOLOGY</a:t>
            </a:r>
          </a:p>
        </p:txBody>
      </p:sp>
      <p:sp>
        <p:nvSpPr>
          <p:cNvPr id="8" name="TextBox 7"/>
          <p:cNvSpPr txBox="1"/>
          <p:nvPr/>
        </p:nvSpPr>
        <p:spPr>
          <a:xfrm>
            <a:off x="93307" y="5460496"/>
            <a:ext cx="2108718" cy="461665"/>
          </a:xfrm>
          <a:prstGeom prst="rect">
            <a:avLst/>
          </a:prstGeom>
          <a:noFill/>
        </p:spPr>
        <p:txBody>
          <a:bodyPr wrap="square" rtlCol="0">
            <a:spAutoFit/>
          </a:bodyPr>
          <a:lstStyle/>
          <a:p>
            <a:r>
              <a:rPr lang="en-IN" sz="2400" b="1" dirty="0">
                <a:solidFill>
                  <a:schemeClr val="tx1">
                    <a:lumMod val="50000"/>
                    <a:lumOff val="50000"/>
                  </a:schemeClr>
                </a:solidFill>
              </a:rPr>
              <a:t>FUTURE SCOPE</a:t>
            </a:r>
          </a:p>
        </p:txBody>
      </p:sp>
      <p:cxnSp>
        <p:nvCxnSpPr>
          <p:cNvPr id="15" name="Straight Connector 14"/>
          <p:cNvCxnSpPr/>
          <p:nvPr/>
        </p:nvCxnSpPr>
        <p:spPr>
          <a:xfrm>
            <a:off x="0" y="1026367"/>
            <a:ext cx="2873829"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7" name="Arrow: Down 6"/>
          <p:cNvSpPr/>
          <p:nvPr/>
        </p:nvSpPr>
        <p:spPr>
          <a:xfrm>
            <a:off x="2412573" y="4683684"/>
            <a:ext cx="315824" cy="461662"/>
          </a:xfrm>
          <a:prstGeom prst="down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Down 9"/>
          <p:cNvSpPr/>
          <p:nvPr/>
        </p:nvSpPr>
        <p:spPr>
          <a:xfrm>
            <a:off x="2402631" y="3998005"/>
            <a:ext cx="315824" cy="461662"/>
          </a:xfrm>
          <a:prstGeom prst="down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Down 10"/>
          <p:cNvSpPr/>
          <p:nvPr/>
        </p:nvSpPr>
        <p:spPr>
          <a:xfrm>
            <a:off x="2402631" y="3311718"/>
            <a:ext cx="315824" cy="461662"/>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Down 11"/>
          <p:cNvSpPr/>
          <p:nvPr/>
        </p:nvSpPr>
        <p:spPr>
          <a:xfrm>
            <a:off x="2412573" y="2622959"/>
            <a:ext cx="315824" cy="461662"/>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Down 13"/>
          <p:cNvSpPr/>
          <p:nvPr/>
        </p:nvSpPr>
        <p:spPr>
          <a:xfrm>
            <a:off x="2412573" y="1936672"/>
            <a:ext cx="315824" cy="461662"/>
          </a:xfrm>
          <a:prstGeom prst="downArrow">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Down 15"/>
          <p:cNvSpPr/>
          <p:nvPr/>
        </p:nvSpPr>
        <p:spPr>
          <a:xfrm>
            <a:off x="2412573" y="5369363"/>
            <a:ext cx="315824" cy="461662"/>
          </a:xfrm>
          <a:prstGeom prst="down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Down 16"/>
          <p:cNvSpPr/>
          <p:nvPr/>
        </p:nvSpPr>
        <p:spPr>
          <a:xfrm>
            <a:off x="2402631" y="1249149"/>
            <a:ext cx="315824" cy="461662"/>
          </a:xfrm>
          <a:prstGeom prst="downArrow">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2" descr="How Does Having an Objective Help a Busin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5603" y="1351182"/>
            <a:ext cx="6718220" cy="44744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873829" cy="685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410547" y="233265"/>
            <a:ext cx="1791477" cy="523220"/>
          </a:xfrm>
          <a:prstGeom prst="rect">
            <a:avLst/>
          </a:prstGeom>
          <a:solidFill>
            <a:schemeClr val="accent6">
              <a:lumMod val="75000"/>
            </a:schemeClr>
          </a:solidFill>
        </p:spPr>
        <p:txBody>
          <a:bodyPr wrap="square" rtlCol="0">
            <a:spAutoFit/>
          </a:bodyPr>
          <a:lstStyle/>
          <a:p>
            <a:r>
              <a:rPr lang="en-IN" sz="2800" b="1" dirty="0"/>
              <a:t>CONTENTS</a:t>
            </a:r>
          </a:p>
        </p:txBody>
      </p:sp>
      <p:sp>
        <p:nvSpPr>
          <p:cNvPr id="4" name="TextBox 3"/>
          <p:cNvSpPr txBox="1"/>
          <p:nvPr/>
        </p:nvSpPr>
        <p:spPr>
          <a:xfrm>
            <a:off x="93306" y="1619887"/>
            <a:ext cx="2276669" cy="461665"/>
          </a:xfrm>
          <a:prstGeom prst="rect">
            <a:avLst/>
          </a:prstGeom>
          <a:noFill/>
        </p:spPr>
        <p:txBody>
          <a:bodyPr wrap="square" rtlCol="0">
            <a:spAutoFit/>
          </a:bodyPr>
          <a:lstStyle/>
          <a:p>
            <a:r>
              <a:rPr lang="en-IN" sz="2400" b="1" dirty="0"/>
              <a:t>INTRODUCTION</a:t>
            </a:r>
          </a:p>
        </p:txBody>
      </p:sp>
      <p:sp>
        <p:nvSpPr>
          <p:cNvPr id="5" name="TextBox 4"/>
          <p:cNvSpPr txBox="1"/>
          <p:nvPr/>
        </p:nvSpPr>
        <p:spPr>
          <a:xfrm>
            <a:off x="149290" y="2900090"/>
            <a:ext cx="1772816" cy="461665"/>
          </a:xfrm>
          <a:prstGeom prst="rect">
            <a:avLst/>
          </a:prstGeom>
          <a:noFill/>
        </p:spPr>
        <p:txBody>
          <a:bodyPr wrap="square" rtlCol="0">
            <a:spAutoFit/>
          </a:bodyPr>
          <a:lstStyle/>
          <a:p>
            <a:r>
              <a:rPr lang="en-IN" sz="2400" b="1" dirty="0">
                <a:solidFill>
                  <a:schemeClr val="tx1">
                    <a:lumMod val="50000"/>
                    <a:lumOff val="50000"/>
                  </a:schemeClr>
                </a:solidFill>
              </a:rPr>
              <a:t>OBJECTIVES</a:t>
            </a:r>
          </a:p>
        </p:txBody>
      </p:sp>
      <p:sp>
        <p:nvSpPr>
          <p:cNvPr id="6" name="TextBox 5"/>
          <p:cNvSpPr txBox="1"/>
          <p:nvPr/>
        </p:nvSpPr>
        <p:spPr>
          <a:xfrm>
            <a:off x="125962" y="4180293"/>
            <a:ext cx="2276669" cy="461665"/>
          </a:xfrm>
          <a:prstGeom prst="rect">
            <a:avLst/>
          </a:prstGeom>
          <a:noFill/>
        </p:spPr>
        <p:txBody>
          <a:bodyPr wrap="square" rtlCol="0">
            <a:spAutoFit/>
          </a:bodyPr>
          <a:lstStyle/>
          <a:p>
            <a:r>
              <a:rPr lang="en-IN" sz="2400" b="1" dirty="0">
                <a:solidFill>
                  <a:schemeClr val="tx1">
                    <a:lumMod val="50000"/>
                    <a:lumOff val="50000"/>
                  </a:schemeClr>
                </a:solidFill>
              </a:rPr>
              <a:t>METHODOLOGY</a:t>
            </a:r>
          </a:p>
        </p:txBody>
      </p:sp>
      <p:sp>
        <p:nvSpPr>
          <p:cNvPr id="8" name="TextBox 7"/>
          <p:cNvSpPr txBox="1"/>
          <p:nvPr/>
        </p:nvSpPr>
        <p:spPr>
          <a:xfrm>
            <a:off x="93307" y="5460496"/>
            <a:ext cx="2108718" cy="461665"/>
          </a:xfrm>
          <a:prstGeom prst="rect">
            <a:avLst/>
          </a:prstGeom>
          <a:noFill/>
        </p:spPr>
        <p:txBody>
          <a:bodyPr wrap="square" rtlCol="0">
            <a:spAutoFit/>
          </a:bodyPr>
          <a:lstStyle/>
          <a:p>
            <a:r>
              <a:rPr lang="en-IN" sz="2400" b="1" dirty="0">
                <a:solidFill>
                  <a:schemeClr val="tx1">
                    <a:lumMod val="50000"/>
                    <a:lumOff val="50000"/>
                  </a:schemeClr>
                </a:solidFill>
              </a:rPr>
              <a:t>FUTURE SCOPE</a:t>
            </a:r>
          </a:p>
        </p:txBody>
      </p:sp>
      <p:cxnSp>
        <p:nvCxnSpPr>
          <p:cNvPr id="15" name="Straight Connector 14"/>
          <p:cNvCxnSpPr/>
          <p:nvPr/>
        </p:nvCxnSpPr>
        <p:spPr>
          <a:xfrm>
            <a:off x="0" y="1026367"/>
            <a:ext cx="2873829"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7" name="Arrow: Down 6"/>
          <p:cNvSpPr/>
          <p:nvPr/>
        </p:nvSpPr>
        <p:spPr>
          <a:xfrm>
            <a:off x="2412573" y="4683684"/>
            <a:ext cx="315824" cy="461662"/>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Down 9"/>
          <p:cNvSpPr/>
          <p:nvPr/>
        </p:nvSpPr>
        <p:spPr>
          <a:xfrm>
            <a:off x="2402631" y="3998005"/>
            <a:ext cx="315824" cy="461662"/>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Down 10"/>
          <p:cNvSpPr/>
          <p:nvPr/>
        </p:nvSpPr>
        <p:spPr>
          <a:xfrm>
            <a:off x="2402631" y="3311718"/>
            <a:ext cx="315824" cy="461662"/>
          </a:xfrm>
          <a:prstGeom prst="downArrow">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Down 11"/>
          <p:cNvSpPr/>
          <p:nvPr/>
        </p:nvSpPr>
        <p:spPr>
          <a:xfrm>
            <a:off x="2412573" y="2622959"/>
            <a:ext cx="315824" cy="461662"/>
          </a:xfrm>
          <a:prstGeom prst="downArrow">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Down 13"/>
          <p:cNvSpPr/>
          <p:nvPr/>
        </p:nvSpPr>
        <p:spPr>
          <a:xfrm>
            <a:off x="2412573" y="1936672"/>
            <a:ext cx="315824" cy="461662"/>
          </a:xfrm>
          <a:prstGeom prst="downArrow">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Down 15"/>
          <p:cNvSpPr/>
          <p:nvPr/>
        </p:nvSpPr>
        <p:spPr>
          <a:xfrm>
            <a:off x="2412573" y="5369363"/>
            <a:ext cx="315824" cy="461662"/>
          </a:xfrm>
          <a:prstGeom prst="down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Down 16"/>
          <p:cNvSpPr/>
          <p:nvPr/>
        </p:nvSpPr>
        <p:spPr>
          <a:xfrm>
            <a:off x="2402631" y="1249149"/>
            <a:ext cx="315824" cy="461662"/>
          </a:xfrm>
          <a:prstGeom prst="downArrow">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2" descr="Methodology Images – Browse 82,302 Stock Photos, Vectors, and Video | Adobe  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5388" y="1608083"/>
            <a:ext cx="6849641" cy="38529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873829" cy="685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410547" y="233265"/>
            <a:ext cx="1791477" cy="523220"/>
          </a:xfrm>
          <a:prstGeom prst="rect">
            <a:avLst/>
          </a:prstGeom>
          <a:solidFill>
            <a:schemeClr val="accent6">
              <a:lumMod val="75000"/>
            </a:schemeClr>
          </a:solidFill>
        </p:spPr>
        <p:txBody>
          <a:bodyPr wrap="square" rtlCol="0">
            <a:spAutoFit/>
          </a:bodyPr>
          <a:lstStyle/>
          <a:p>
            <a:r>
              <a:rPr lang="en-IN" sz="2800" b="1" dirty="0"/>
              <a:t>CONTENTS</a:t>
            </a:r>
          </a:p>
        </p:txBody>
      </p:sp>
      <p:sp>
        <p:nvSpPr>
          <p:cNvPr id="4" name="TextBox 3"/>
          <p:cNvSpPr txBox="1"/>
          <p:nvPr/>
        </p:nvSpPr>
        <p:spPr>
          <a:xfrm>
            <a:off x="93306" y="1619887"/>
            <a:ext cx="2276669" cy="461665"/>
          </a:xfrm>
          <a:prstGeom prst="rect">
            <a:avLst/>
          </a:prstGeom>
          <a:noFill/>
        </p:spPr>
        <p:txBody>
          <a:bodyPr wrap="square" rtlCol="0">
            <a:spAutoFit/>
          </a:bodyPr>
          <a:lstStyle/>
          <a:p>
            <a:r>
              <a:rPr lang="en-IN" sz="2400" b="1" dirty="0"/>
              <a:t>INTRODUCTION</a:t>
            </a:r>
          </a:p>
        </p:txBody>
      </p:sp>
      <p:sp>
        <p:nvSpPr>
          <p:cNvPr id="5" name="TextBox 4"/>
          <p:cNvSpPr txBox="1"/>
          <p:nvPr/>
        </p:nvSpPr>
        <p:spPr>
          <a:xfrm>
            <a:off x="149290" y="2900090"/>
            <a:ext cx="1772816" cy="461665"/>
          </a:xfrm>
          <a:prstGeom prst="rect">
            <a:avLst/>
          </a:prstGeom>
          <a:noFill/>
        </p:spPr>
        <p:txBody>
          <a:bodyPr wrap="square" rtlCol="0">
            <a:spAutoFit/>
          </a:bodyPr>
          <a:lstStyle/>
          <a:p>
            <a:r>
              <a:rPr lang="en-IN" sz="2400" b="1" dirty="0">
                <a:solidFill>
                  <a:schemeClr val="tx1">
                    <a:lumMod val="50000"/>
                    <a:lumOff val="50000"/>
                  </a:schemeClr>
                </a:solidFill>
              </a:rPr>
              <a:t>OBJECTIVES</a:t>
            </a:r>
          </a:p>
        </p:txBody>
      </p:sp>
      <p:sp>
        <p:nvSpPr>
          <p:cNvPr id="6" name="TextBox 5"/>
          <p:cNvSpPr txBox="1"/>
          <p:nvPr/>
        </p:nvSpPr>
        <p:spPr>
          <a:xfrm>
            <a:off x="125962" y="4180293"/>
            <a:ext cx="2276669" cy="461665"/>
          </a:xfrm>
          <a:prstGeom prst="rect">
            <a:avLst/>
          </a:prstGeom>
          <a:noFill/>
        </p:spPr>
        <p:txBody>
          <a:bodyPr wrap="square" rtlCol="0">
            <a:spAutoFit/>
          </a:bodyPr>
          <a:lstStyle/>
          <a:p>
            <a:r>
              <a:rPr lang="en-IN" sz="2400" b="1" dirty="0">
                <a:solidFill>
                  <a:schemeClr val="tx1">
                    <a:lumMod val="50000"/>
                    <a:lumOff val="50000"/>
                  </a:schemeClr>
                </a:solidFill>
              </a:rPr>
              <a:t>METHODOLOGY</a:t>
            </a:r>
          </a:p>
        </p:txBody>
      </p:sp>
      <p:sp>
        <p:nvSpPr>
          <p:cNvPr id="8" name="TextBox 7"/>
          <p:cNvSpPr txBox="1"/>
          <p:nvPr/>
        </p:nvSpPr>
        <p:spPr>
          <a:xfrm>
            <a:off x="93307" y="5460496"/>
            <a:ext cx="2108718" cy="461665"/>
          </a:xfrm>
          <a:prstGeom prst="rect">
            <a:avLst/>
          </a:prstGeom>
          <a:noFill/>
        </p:spPr>
        <p:txBody>
          <a:bodyPr wrap="square" rtlCol="0">
            <a:spAutoFit/>
          </a:bodyPr>
          <a:lstStyle/>
          <a:p>
            <a:r>
              <a:rPr lang="en-IN" sz="2400" b="1" dirty="0">
                <a:solidFill>
                  <a:schemeClr val="tx1">
                    <a:lumMod val="50000"/>
                    <a:lumOff val="50000"/>
                  </a:schemeClr>
                </a:solidFill>
              </a:rPr>
              <a:t>FUTURE SCOPE</a:t>
            </a:r>
          </a:p>
        </p:txBody>
      </p:sp>
      <p:cxnSp>
        <p:nvCxnSpPr>
          <p:cNvPr id="15" name="Straight Connector 14"/>
          <p:cNvCxnSpPr/>
          <p:nvPr/>
        </p:nvCxnSpPr>
        <p:spPr>
          <a:xfrm>
            <a:off x="0" y="1026367"/>
            <a:ext cx="2873829"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7" name="Arrow: Down 6"/>
          <p:cNvSpPr/>
          <p:nvPr/>
        </p:nvSpPr>
        <p:spPr>
          <a:xfrm>
            <a:off x="2412573" y="4683684"/>
            <a:ext cx="315824" cy="461662"/>
          </a:xfrm>
          <a:prstGeom prst="downArrow">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Down 9"/>
          <p:cNvSpPr/>
          <p:nvPr/>
        </p:nvSpPr>
        <p:spPr>
          <a:xfrm>
            <a:off x="2402631" y="3998005"/>
            <a:ext cx="315824" cy="461662"/>
          </a:xfrm>
          <a:prstGeom prst="downArrow">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Down 10"/>
          <p:cNvSpPr/>
          <p:nvPr/>
        </p:nvSpPr>
        <p:spPr>
          <a:xfrm>
            <a:off x="2402631" y="3311718"/>
            <a:ext cx="315824" cy="461662"/>
          </a:xfrm>
          <a:prstGeom prst="downArrow">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Down 11"/>
          <p:cNvSpPr/>
          <p:nvPr/>
        </p:nvSpPr>
        <p:spPr>
          <a:xfrm>
            <a:off x="2412573" y="2622959"/>
            <a:ext cx="315824" cy="461662"/>
          </a:xfrm>
          <a:prstGeom prst="downArrow">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Down 13"/>
          <p:cNvSpPr/>
          <p:nvPr/>
        </p:nvSpPr>
        <p:spPr>
          <a:xfrm>
            <a:off x="2412573" y="1936672"/>
            <a:ext cx="315824" cy="461662"/>
          </a:xfrm>
          <a:prstGeom prst="downArrow">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Down 15"/>
          <p:cNvSpPr/>
          <p:nvPr/>
        </p:nvSpPr>
        <p:spPr>
          <a:xfrm>
            <a:off x="2412573" y="5369363"/>
            <a:ext cx="315824" cy="461662"/>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Down 16"/>
          <p:cNvSpPr/>
          <p:nvPr/>
        </p:nvSpPr>
        <p:spPr>
          <a:xfrm>
            <a:off x="2402631" y="1249149"/>
            <a:ext cx="315824" cy="461662"/>
          </a:xfrm>
          <a:prstGeom prst="downArrow">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2" descr="The Future of the Solar Industry - SolarFeeds Magaz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2892" y="1151366"/>
            <a:ext cx="6853057" cy="45552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3026" y="2955329"/>
            <a:ext cx="4475364" cy="769441"/>
          </a:xfrm>
          <a:prstGeom prst="rect">
            <a:avLst/>
          </a:prstGeom>
          <a:noFill/>
        </p:spPr>
        <p:txBody>
          <a:bodyPr wrap="square" rtlCol="0">
            <a:spAutoFit/>
          </a:bodyPr>
          <a:lstStyle/>
          <a:p>
            <a:r>
              <a:rPr lang="en-IN" sz="4400" b="1" dirty="0">
                <a:solidFill>
                  <a:schemeClr val="bg1"/>
                </a:solidFill>
              </a:rPr>
              <a:t>INTRODUCTION</a:t>
            </a:r>
          </a:p>
        </p:txBody>
      </p:sp>
      <p:sp>
        <p:nvSpPr>
          <p:cNvPr id="7" name="TextBox 6"/>
          <p:cNvSpPr txBox="1"/>
          <p:nvPr/>
        </p:nvSpPr>
        <p:spPr>
          <a:xfrm>
            <a:off x="6713814" y="920621"/>
            <a:ext cx="4710399" cy="5324535"/>
          </a:xfrm>
          <a:prstGeom prst="rect">
            <a:avLst/>
          </a:prstGeom>
          <a:noFill/>
        </p:spPr>
        <p:txBody>
          <a:bodyPr wrap="square" rtlCol="0">
            <a:spAutoFit/>
          </a:bodyPr>
          <a:lstStyle/>
          <a:p>
            <a:r>
              <a:rPr lang="en-US" sz="2000" dirty="0">
                <a:solidFill>
                  <a:schemeClr val="bg1"/>
                </a:solidFill>
              </a:rPr>
              <a:t>The Flight Operation Hub aims to provide a real-time and automated solution for airline operations, including ticket booking, flight scheduling, passenger management, and cancellations. This system will help airlines streamline their operations, reduce manual workload, and enhance customer experience by providing a simple, efficient, and secure way to manage airline services.</a:t>
            </a:r>
          </a:p>
          <a:p>
            <a:r>
              <a:rPr lang="en-US" sz="2000" dirty="0">
                <a:solidFill>
                  <a:schemeClr val="bg1"/>
                </a:solidFill>
              </a:rPr>
              <a:t>With the increasing number of air travelers, airlines require a robust and scalable system that can handle bookings, cancellations, and flight status management effectively. This project will ensure that passengers and administrators have a seamless experience in managing airline operations.</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Shape 6"/>
          <p:cNvSpPr/>
          <p:nvPr/>
        </p:nvSpPr>
        <p:spPr>
          <a:xfrm rot="16200000">
            <a:off x="-1411616" y="3735103"/>
            <a:ext cx="3663755" cy="284288"/>
          </a:xfrm>
          <a:custGeom>
            <a:avLst/>
            <a:gdLst>
              <a:gd name="connsiteX0" fmla="*/ 0 w 3663755"/>
              <a:gd name="connsiteY0" fmla="*/ 0 h 284288"/>
              <a:gd name="connsiteX1" fmla="*/ 3663755 w 3663755"/>
              <a:gd name="connsiteY1" fmla="*/ 0 h 284288"/>
              <a:gd name="connsiteX2" fmla="*/ 3663755 w 3663755"/>
              <a:gd name="connsiteY2" fmla="*/ 284288 h 284288"/>
              <a:gd name="connsiteX3" fmla="*/ 0 w 3663755"/>
              <a:gd name="connsiteY3" fmla="*/ 284288 h 284288"/>
              <a:gd name="connsiteX4" fmla="*/ 0 w 3663755"/>
              <a:gd name="connsiteY4" fmla="*/ 0 h 284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3755" h="284288">
                <a:moveTo>
                  <a:pt x="0" y="0"/>
                </a:moveTo>
                <a:lnTo>
                  <a:pt x="3663755" y="0"/>
                </a:lnTo>
                <a:lnTo>
                  <a:pt x="3663755" y="284288"/>
                </a:lnTo>
                <a:lnTo>
                  <a:pt x="0" y="28428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 tIns="0" rIns="250727" bIns="-1" numCol="1" spcCol="1270" anchor="t" anchorCtr="0">
            <a:noAutofit/>
          </a:bodyPr>
          <a:lstStyle/>
          <a:p>
            <a:pPr marL="0" lvl="0" indent="0" algn="r" defTabSz="889000">
              <a:lnSpc>
                <a:spcPct val="90000"/>
              </a:lnSpc>
              <a:spcBef>
                <a:spcPct val="0"/>
              </a:spcBef>
              <a:spcAft>
                <a:spcPct val="35000"/>
              </a:spcAft>
              <a:buNone/>
            </a:pPr>
            <a:endParaRPr lang="en-IN" sz="2000" kern="1200"/>
          </a:p>
        </p:txBody>
      </p:sp>
      <p:sp>
        <p:nvSpPr>
          <p:cNvPr id="8" name="Freeform: Shape 7"/>
          <p:cNvSpPr/>
          <p:nvPr/>
        </p:nvSpPr>
        <p:spPr>
          <a:xfrm>
            <a:off x="420261" y="1931832"/>
            <a:ext cx="2305241" cy="3416916"/>
          </a:xfrm>
          <a:custGeom>
            <a:avLst/>
            <a:gdLst>
              <a:gd name="connsiteX0" fmla="*/ 0 w 1416058"/>
              <a:gd name="connsiteY0" fmla="*/ 0 h 3663755"/>
              <a:gd name="connsiteX1" fmla="*/ 1416058 w 1416058"/>
              <a:gd name="connsiteY1" fmla="*/ 0 h 3663755"/>
              <a:gd name="connsiteX2" fmla="*/ 1416058 w 1416058"/>
              <a:gd name="connsiteY2" fmla="*/ 3663755 h 3663755"/>
              <a:gd name="connsiteX3" fmla="*/ 0 w 1416058"/>
              <a:gd name="connsiteY3" fmla="*/ 3663755 h 3663755"/>
              <a:gd name="connsiteX4" fmla="*/ 0 w 1416058"/>
              <a:gd name="connsiteY4" fmla="*/ 0 h 366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6058" h="3663755">
                <a:moveTo>
                  <a:pt x="0" y="0"/>
                </a:moveTo>
                <a:lnTo>
                  <a:pt x="1416058" y="0"/>
                </a:lnTo>
                <a:lnTo>
                  <a:pt x="1416058" y="3663755"/>
                </a:lnTo>
                <a:lnTo>
                  <a:pt x="0" y="3663755"/>
                </a:lnTo>
                <a:lnTo>
                  <a:pt x="0" y="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20904" tIns="250727" rIns="120904" bIns="120904" numCol="1" spcCol="1270" anchor="t" anchorCtr="0">
            <a:noAutofit/>
          </a:bodyPr>
          <a:lstStyle/>
          <a:p>
            <a:pPr marL="0" lvl="1" algn="ctr" defTabSz="577850">
              <a:lnSpc>
                <a:spcPct val="90000"/>
              </a:lnSpc>
              <a:spcBef>
                <a:spcPct val="0"/>
              </a:spcBef>
              <a:spcAft>
                <a:spcPct val="15000"/>
              </a:spcAft>
            </a:pPr>
            <a:endParaRPr lang="en-US" sz="1400" b="1" dirty="0"/>
          </a:p>
          <a:p>
            <a:pPr marL="0" lvl="1" algn="ctr" defTabSz="577850">
              <a:lnSpc>
                <a:spcPct val="90000"/>
              </a:lnSpc>
              <a:spcBef>
                <a:spcPct val="0"/>
              </a:spcBef>
              <a:spcAft>
                <a:spcPct val="15000"/>
              </a:spcAft>
            </a:pPr>
            <a:endParaRPr lang="en-US" sz="1400" b="1" dirty="0"/>
          </a:p>
          <a:p>
            <a:pPr marL="0" lvl="1" algn="ctr" defTabSz="577850">
              <a:lnSpc>
                <a:spcPct val="90000"/>
              </a:lnSpc>
              <a:spcBef>
                <a:spcPct val="0"/>
              </a:spcBef>
              <a:spcAft>
                <a:spcPct val="15000"/>
              </a:spcAft>
            </a:pPr>
            <a:endParaRPr lang="en-US" sz="1400" b="1" dirty="0"/>
          </a:p>
          <a:p>
            <a:pPr marL="0" lvl="1" algn="ctr" defTabSz="577850">
              <a:lnSpc>
                <a:spcPct val="90000"/>
              </a:lnSpc>
              <a:spcBef>
                <a:spcPct val="0"/>
              </a:spcBef>
              <a:spcAft>
                <a:spcPct val="15000"/>
              </a:spcAft>
            </a:pPr>
            <a:endParaRPr lang="en-US" sz="1400" b="1" dirty="0"/>
          </a:p>
          <a:p>
            <a:pPr marL="0" lvl="1" algn="ctr" defTabSz="577850">
              <a:lnSpc>
                <a:spcPct val="90000"/>
              </a:lnSpc>
              <a:spcBef>
                <a:spcPct val="0"/>
              </a:spcBef>
              <a:spcAft>
                <a:spcPct val="15000"/>
              </a:spcAft>
            </a:pPr>
            <a:r>
              <a:rPr lang="en-US" sz="1400" b="1" dirty="0"/>
              <a:t>To develop a fully automated Flight Operation Hub that simplifies booking, cancellations, and passenger management.</a:t>
            </a:r>
            <a:endParaRPr lang="en-IN" sz="1300" b="1" dirty="0">
              <a:solidFill>
                <a:schemeClr val="tx1"/>
              </a:solidFill>
              <a:latin typeface="Amazon Ember"/>
            </a:endParaRPr>
          </a:p>
        </p:txBody>
      </p:sp>
      <p:sp>
        <p:nvSpPr>
          <p:cNvPr id="10" name="Freeform: Shape 9"/>
          <p:cNvSpPr/>
          <p:nvPr/>
        </p:nvSpPr>
        <p:spPr>
          <a:xfrm rot="16200000">
            <a:off x="639639" y="3735103"/>
            <a:ext cx="3663755" cy="284288"/>
          </a:xfrm>
          <a:custGeom>
            <a:avLst/>
            <a:gdLst>
              <a:gd name="connsiteX0" fmla="*/ 0 w 3663755"/>
              <a:gd name="connsiteY0" fmla="*/ 0 h 284288"/>
              <a:gd name="connsiteX1" fmla="*/ 3663755 w 3663755"/>
              <a:gd name="connsiteY1" fmla="*/ 0 h 284288"/>
              <a:gd name="connsiteX2" fmla="*/ 3663755 w 3663755"/>
              <a:gd name="connsiteY2" fmla="*/ 284288 h 284288"/>
              <a:gd name="connsiteX3" fmla="*/ 0 w 3663755"/>
              <a:gd name="connsiteY3" fmla="*/ 284288 h 284288"/>
              <a:gd name="connsiteX4" fmla="*/ 0 w 3663755"/>
              <a:gd name="connsiteY4" fmla="*/ 0 h 284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3755" h="284288">
                <a:moveTo>
                  <a:pt x="0" y="0"/>
                </a:moveTo>
                <a:lnTo>
                  <a:pt x="3663755" y="0"/>
                </a:lnTo>
                <a:lnTo>
                  <a:pt x="3663755" y="284288"/>
                </a:lnTo>
                <a:lnTo>
                  <a:pt x="0" y="28428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 tIns="0" rIns="250727" bIns="-1" numCol="1" spcCol="1270" anchor="t" anchorCtr="0">
            <a:noAutofit/>
          </a:bodyPr>
          <a:lstStyle/>
          <a:p>
            <a:pPr marL="0" lvl="0" indent="0" algn="r" defTabSz="889000">
              <a:lnSpc>
                <a:spcPct val="90000"/>
              </a:lnSpc>
              <a:spcBef>
                <a:spcPct val="0"/>
              </a:spcBef>
              <a:spcAft>
                <a:spcPct val="35000"/>
              </a:spcAft>
              <a:buNone/>
            </a:pPr>
            <a:endParaRPr lang="en-IN" sz="2000" kern="1200" dirty="0"/>
          </a:p>
        </p:txBody>
      </p:sp>
      <p:sp>
        <p:nvSpPr>
          <p:cNvPr id="11" name="Freeform: Shape 10"/>
          <p:cNvSpPr/>
          <p:nvPr/>
        </p:nvSpPr>
        <p:spPr>
          <a:xfrm>
            <a:off x="3285046" y="1931833"/>
            <a:ext cx="2327800" cy="3416916"/>
          </a:xfrm>
          <a:custGeom>
            <a:avLst/>
            <a:gdLst>
              <a:gd name="connsiteX0" fmla="*/ 0 w 1416058"/>
              <a:gd name="connsiteY0" fmla="*/ 0 h 3663755"/>
              <a:gd name="connsiteX1" fmla="*/ 1416058 w 1416058"/>
              <a:gd name="connsiteY1" fmla="*/ 0 h 3663755"/>
              <a:gd name="connsiteX2" fmla="*/ 1416058 w 1416058"/>
              <a:gd name="connsiteY2" fmla="*/ 3663755 h 3663755"/>
              <a:gd name="connsiteX3" fmla="*/ 0 w 1416058"/>
              <a:gd name="connsiteY3" fmla="*/ 3663755 h 3663755"/>
              <a:gd name="connsiteX4" fmla="*/ 0 w 1416058"/>
              <a:gd name="connsiteY4" fmla="*/ 0 h 366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6058" h="3663755">
                <a:moveTo>
                  <a:pt x="0" y="0"/>
                </a:moveTo>
                <a:lnTo>
                  <a:pt x="1416058" y="0"/>
                </a:lnTo>
                <a:lnTo>
                  <a:pt x="1416058" y="3663755"/>
                </a:lnTo>
                <a:lnTo>
                  <a:pt x="0" y="3663755"/>
                </a:lnTo>
                <a:lnTo>
                  <a:pt x="0" y="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20904" tIns="250727" rIns="120904" bIns="120904" numCol="1" spcCol="1270" anchor="t" anchorCtr="0">
            <a:noAutofit/>
          </a:bodyPr>
          <a:lstStyle/>
          <a:p>
            <a:pPr marL="0" lvl="1" algn="ctr" defTabSz="577850">
              <a:lnSpc>
                <a:spcPct val="90000"/>
              </a:lnSpc>
              <a:spcBef>
                <a:spcPct val="0"/>
              </a:spcBef>
              <a:spcAft>
                <a:spcPct val="15000"/>
              </a:spcAft>
            </a:pPr>
            <a:endParaRPr lang="en-US" sz="1400" b="1" dirty="0"/>
          </a:p>
          <a:p>
            <a:pPr marL="0" lvl="1" algn="ctr" defTabSz="577850">
              <a:lnSpc>
                <a:spcPct val="90000"/>
              </a:lnSpc>
              <a:spcBef>
                <a:spcPct val="0"/>
              </a:spcBef>
              <a:spcAft>
                <a:spcPct val="15000"/>
              </a:spcAft>
            </a:pPr>
            <a:endParaRPr lang="en-US" sz="1400" b="1" dirty="0"/>
          </a:p>
          <a:p>
            <a:pPr marL="0" lvl="1" algn="ctr" defTabSz="577850">
              <a:lnSpc>
                <a:spcPct val="90000"/>
              </a:lnSpc>
              <a:spcBef>
                <a:spcPct val="0"/>
              </a:spcBef>
              <a:spcAft>
                <a:spcPct val="15000"/>
              </a:spcAft>
            </a:pPr>
            <a:endParaRPr lang="en-US" sz="1400" b="1" dirty="0"/>
          </a:p>
          <a:p>
            <a:pPr marL="0" lvl="1" algn="ctr" defTabSz="577850">
              <a:lnSpc>
                <a:spcPct val="90000"/>
              </a:lnSpc>
              <a:spcBef>
                <a:spcPct val="0"/>
              </a:spcBef>
              <a:spcAft>
                <a:spcPct val="15000"/>
              </a:spcAft>
            </a:pPr>
            <a:endParaRPr lang="en-US" sz="1400" b="1" dirty="0"/>
          </a:p>
          <a:p>
            <a:pPr marL="0" lvl="1" algn="ctr" defTabSz="577850">
              <a:lnSpc>
                <a:spcPct val="90000"/>
              </a:lnSpc>
              <a:spcBef>
                <a:spcPct val="0"/>
              </a:spcBef>
              <a:spcAft>
                <a:spcPct val="15000"/>
              </a:spcAft>
            </a:pPr>
            <a:r>
              <a:rPr lang="en-US" sz="1400" b="1" dirty="0"/>
              <a:t>To integrate real-time flight scheduling and status updates for passengers and administrators.</a:t>
            </a:r>
            <a:endParaRPr lang="en-IN" sz="1300" b="1" kern="1200" dirty="0"/>
          </a:p>
        </p:txBody>
      </p:sp>
      <p:sp>
        <p:nvSpPr>
          <p:cNvPr id="13" name="Freeform: Shape 12"/>
          <p:cNvSpPr/>
          <p:nvPr/>
        </p:nvSpPr>
        <p:spPr>
          <a:xfrm rot="16200000">
            <a:off x="2690894" y="3735103"/>
            <a:ext cx="3663755" cy="284288"/>
          </a:xfrm>
          <a:custGeom>
            <a:avLst/>
            <a:gdLst>
              <a:gd name="connsiteX0" fmla="*/ 0 w 3663755"/>
              <a:gd name="connsiteY0" fmla="*/ 0 h 284288"/>
              <a:gd name="connsiteX1" fmla="*/ 3663755 w 3663755"/>
              <a:gd name="connsiteY1" fmla="*/ 0 h 284288"/>
              <a:gd name="connsiteX2" fmla="*/ 3663755 w 3663755"/>
              <a:gd name="connsiteY2" fmla="*/ 284288 h 284288"/>
              <a:gd name="connsiteX3" fmla="*/ 0 w 3663755"/>
              <a:gd name="connsiteY3" fmla="*/ 284288 h 284288"/>
              <a:gd name="connsiteX4" fmla="*/ 0 w 3663755"/>
              <a:gd name="connsiteY4" fmla="*/ 0 h 284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3755" h="284288">
                <a:moveTo>
                  <a:pt x="0" y="0"/>
                </a:moveTo>
                <a:lnTo>
                  <a:pt x="3663755" y="0"/>
                </a:lnTo>
                <a:lnTo>
                  <a:pt x="3663755" y="284288"/>
                </a:lnTo>
                <a:lnTo>
                  <a:pt x="0" y="28428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 tIns="0" rIns="250727" bIns="-1" numCol="1" spcCol="1270" anchor="t" anchorCtr="0">
            <a:noAutofit/>
          </a:bodyPr>
          <a:lstStyle/>
          <a:p>
            <a:pPr marL="0" lvl="0" indent="0" algn="r" defTabSz="889000">
              <a:lnSpc>
                <a:spcPct val="90000"/>
              </a:lnSpc>
              <a:spcBef>
                <a:spcPct val="0"/>
              </a:spcBef>
              <a:spcAft>
                <a:spcPct val="35000"/>
              </a:spcAft>
              <a:buNone/>
            </a:pPr>
            <a:endParaRPr lang="en-IN" sz="2000" kern="1200"/>
          </a:p>
        </p:txBody>
      </p:sp>
      <p:sp>
        <p:nvSpPr>
          <p:cNvPr id="14" name="Freeform: Shape 13"/>
          <p:cNvSpPr/>
          <p:nvPr/>
        </p:nvSpPr>
        <p:spPr>
          <a:xfrm>
            <a:off x="6172390" y="1931832"/>
            <a:ext cx="2327800" cy="3394352"/>
          </a:xfrm>
          <a:custGeom>
            <a:avLst/>
            <a:gdLst>
              <a:gd name="connsiteX0" fmla="*/ 0 w 1416058"/>
              <a:gd name="connsiteY0" fmla="*/ 0 h 3663755"/>
              <a:gd name="connsiteX1" fmla="*/ 1416058 w 1416058"/>
              <a:gd name="connsiteY1" fmla="*/ 0 h 3663755"/>
              <a:gd name="connsiteX2" fmla="*/ 1416058 w 1416058"/>
              <a:gd name="connsiteY2" fmla="*/ 3663755 h 3663755"/>
              <a:gd name="connsiteX3" fmla="*/ 0 w 1416058"/>
              <a:gd name="connsiteY3" fmla="*/ 3663755 h 3663755"/>
              <a:gd name="connsiteX4" fmla="*/ 0 w 1416058"/>
              <a:gd name="connsiteY4" fmla="*/ 0 h 366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6058" h="3663755">
                <a:moveTo>
                  <a:pt x="0" y="0"/>
                </a:moveTo>
                <a:lnTo>
                  <a:pt x="1416058" y="0"/>
                </a:lnTo>
                <a:lnTo>
                  <a:pt x="1416058" y="3663755"/>
                </a:lnTo>
                <a:lnTo>
                  <a:pt x="0" y="3663755"/>
                </a:lnTo>
                <a:lnTo>
                  <a:pt x="0" y="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20904" tIns="250727" rIns="120904" bIns="120904" numCol="1" spcCol="1270" anchor="t" anchorCtr="0">
            <a:noAutofit/>
          </a:bodyPr>
          <a:lstStyle/>
          <a:p>
            <a:pPr marL="0" lvl="1" algn="ctr" defTabSz="577850">
              <a:lnSpc>
                <a:spcPct val="90000"/>
              </a:lnSpc>
              <a:spcBef>
                <a:spcPct val="0"/>
              </a:spcBef>
              <a:spcAft>
                <a:spcPct val="15000"/>
              </a:spcAft>
            </a:pPr>
            <a:endParaRPr lang="en-US" sz="1400" b="1" dirty="0"/>
          </a:p>
          <a:p>
            <a:pPr marL="0" lvl="1" algn="ctr" defTabSz="577850">
              <a:lnSpc>
                <a:spcPct val="90000"/>
              </a:lnSpc>
              <a:spcBef>
                <a:spcPct val="0"/>
              </a:spcBef>
              <a:spcAft>
                <a:spcPct val="15000"/>
              </a:spcAft>
            </a:pPr>
            <a:endParaRPr lang="en-US" sz="1400" b="1" dirty="0"/>
          </a:p>
          <a:p>
            <a:pPr marL="0" lvl="1" algn="ctr" defTabSz="577850">
              <a:lnSpc>
                <a:spcPct val="90000"/>
              </a:lnSpc>
              <a:spcBef>
                <a:spcPct val="0"/>
              </a:spcBef>
              <a:spcAft>
                <a:spcPct val="15000"/>
              </a:spcAft>
            </a:pPr>
            <a:endParaRPr lang="en-US" sz="1400" b="1" dirty="0"/>
          </a:p>
          <a:p>
            <a:pPr marL="0" lvl="1" algn="ctr" defTabSz="577850">
              <a:lnSpc>
                <a:spcPct val="90000"/>
              </a:lnSpc>
              <a:spcBef>
                <a:spcPct val="0"/>
              </a:spcBef>
              <a:spcAft>
                <a:spcPct val="15000"/>
              </a:spcAft>
            </a:pPr>
            <a:endParaRPr lang="en-US" sz="1400" b="1" dirty="0"/>
          </a:p>
          <a:p>
            <a:pPr marL="0" lvl="1" algn="ctr" defTabSz="577850">
              <a:lnSpc>
                <a:spcPct val="90000"/>
              </a:lnSpc>
              <a:spcBef>
                <a:spcPct val="0"/>
              </a:spcBef>
              <a:spcAft>
                <a:spcPct val="15000"/>
              </a:spcAft>
            </a:pPr>
            <a:r>
              <a:rPr lang="en-US" sz="1400" b="1" dirty="0"/>
              <a:t>To ensure seamless payment processing through multiple online payment gateways.</a:t>
            </a:r>
            <a:endParaRPr lang="en-IN" sz="1300" b="1" kern="1200" dirty="0"/>
          </a:p>
        </p:txBody>
      </p:sp>
      <p:sp>
        <p:nvSpPr>
          <p:cNvPr id="6" name="TextBox 5"/>
          <p:cNvSpPr txBox="1"/>
          <p:nvPr/>
        </p:nvSpPr>
        <p:spPr>
          <a:xfrm>
            <a:off x="1701407" y="520292"/>
            <a:ext cx="9126583" cy="769441"/>
          </a:xfrm>
          <a:prstGeom prst="rect">
            <a:avLst/>
          </a:prstGeom>
          <a:noFill/>
        </p:spPr>
        <p:txBody>
          <a:bodyPr wrap="square" rtlCol="0">
            <a:spAutoFit/>
          </a:bodyPr>
          <a:lstStyle/>
          <a:p>
            <a:pPr algn="ctr"/>
            <a:r>
              <a:rPr lang="en-IN" sz="4400" dirty="0">
                <a:solidFill>
                  <a:schemeClr val="bg1"/>
                </a:solidFill>
                <a:latin typeface="Inter Black" panose="020B0A02050000000004" pitchFamily="34" charset="0"/>
                <a:ea typeface="Inter Black" panose="020B0A02050000000004" pitchFamily="34" charset="0"/>
              </a:rPr>
              <a:t>OBJECTIVES</a:t>
            </a:r>
          </a:p>
        </p:txBody>
      </p:sp>
      <p:sp>
        <p:nvSpPr>
          <p:cNvPr id="3" name="Freeform: Shape 2"/>
          <p:cNvSpPr/>
          <p:nvPr/>
        </p:nvSpPr>
        <p:spPr>
          <a:xfrm>
            <a:off x="9059734" y="1931832"/>
            <a:ext cx="2327800" cy="3394352"/>
          </a:xfrm>
          <a:custGeom>
            <a:avLst/>
            <a:gdLst>
              <a:gd name="connsiteX0" fmla="*/ 0 w 1416058"/>
              <a:gd name="connsiteY0" fmla="*/ 0 h 3663755"/>
              <a:gd name="connsiteX1" fmla="*/ 1416058 w 1416058"/>
              <a:gd name="connsiteY1" fmla="*/ 0 h 3663755"/>
              <a:gd name="connsiteX2" fmla="*/ 1416058 w 1416058"/>
              <a:gd name="connsiteY2" fmla="*/ 3663755 h 3663755"/>
              <a:gd name="connsiteX3" fmla="*/ 0 w 1416058"/>
              <a:gd name="connsiteY3" fmla="*/ 3663755 h 3663755"/>
              <a:gd name="connsiteX4" fmla="*/ 0 w 1416058"/>
              <a:gd name="connsiteY4" fmla="*/ 0 h 366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6058" h="3663755">
                <a:moveTo>
                  <a:pt x="0" y="0"/>
                </a:moveTo>
                <a:lnTo>
                  <a:pt x="1416058" y="0"/>
                </a:lnTo>
                <a:lnTo>
                  <a:pt x="1416058" y="3663755"/>
                </a:lnTo>
                <a:lnTo>
                  <a:pt x="0" y="3663755"/>
                </a:lnTo>
                <a:lnTo>
                  <a:pt x="0" y="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20904" tIns="250727" rIns="120904" bIns="120904" numCol="1" spcCol="1270" anchor="t" anchorCtr="0">
            <a:noAutofit/>
          </a:bodyPr>
          <a:lstStyle/>
          <a:p>
            <a:pPr marL="0" lvl="1" algn="ctr" defTabSz="577850">
              <a:lnSpc>
                <a:spcPct val="90000"/>
              </a:lnSpc>
              <a:spcBef>
                <a:spcPct val="0"/>
              </a:spcBef>
              <a:spcAft>
                <a:spcPct val="15000"/>
              </a:spcAft>
            </a:pPr>
            <a:endParaRPr lang="en-US" sz="1400" b="1" dirty="0"/>
          </a:p>
          <a:p>
            <a:pPr marL="0" lvl="1" algn="ctr" defTabSz="577850">
              <a:lnSpc>
                <a:spcPct val="90000"/>
              </a:lnSpc>
              <a:spcBef>
                <a:spcPct val="0"/>
              </a:spcBef>
              <a:spcAft>
                <a:spcPct val="15000"/>
              </a:spcAft>
            </a:pPr>
            <a:endParaRPr lang="en-US" sz="1400" b="1" dirty="0"/>
          </a:p>
          <a:p>
            <a:pPr marL="0" lvl="1" algn="ctr" defTabSz="577850">
              <a:lnSpc>
                <a:spcPct val="90000"/>
              </a:lnSpc>
              <a:spcBef>
                <a:spcPct val="0"/>
              </a:spcBef>
              <a:spcAft>
                <a:spcPct val="15000"/>
              </a:spcAft>
            </a:pPr>
            <a:endParaRPr lang="en-US" sz="1400" b="1" dirty="0"/>
          </a:p>
          <a:p>
            <a:pPr marL="0" lvl="1" algn="ctr" defTabSz="577850">
              <a:lnSpc>
                <a:spcPct val="90000"/>
              </a:lnSpc>
              <a:spcBef>
                <a:spcPct val="0"/>
              </a:spcBef>
              <a:spcAft>
                <a:spcPct val="15000"/>
              </a:spcAft>
            </a:pPr>
            <a:endParaRPr lang="en-US" sz="1400" b="1" dirty="0"/>
          </a:p>
          <a:p>
            <a:pPr marL="0" lvl="1" algn="ctr" defTabSz="577850">
              <a:lnSpc>
                <a:spcPct val="90000"/>
              </a:lnSpc>
              <a:spcBef>
                <a:spcPct val="0"/>
              </a:spcBef>
              <a:spcAft>
                <a:spcPct val="15000"/>
              </a:spcAft>
            </a:pPr>
            <a:r>
              <a:rPr lang="en-US" sz="1400" b="1" dirty="0"/>
              <a:t>To generate reports for airline operators, including financial summaries, flight occupancy, and operational insights</a:t>
            </a:r>
            <a:endParaRPr lang="en-IN" sz="1300" b="1" kern="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1"/>
          <p:cNvSpPr txBox="1"/>
          <p:nvPr/>
        </p:nvSpPr>
        <p:spPr>
          <a:xfrm>
            <a:off x="245533" y="248336"/>
            <a:ext cx="3438331" cy="523220"/>
          </a:xfrm>
          <a:prstGeom prst="rect">
            <a:avLst/>
          </a:prstGeom>
          <a:noFill/>
        </p:spPr>
        <p:txBody>
          <a:bodyPr wrap="square" rtlCol="0">
            <a:spAutoFit/>
          </a:bodyPr>
          <a:lstStyle/>
          <a:p>
            <a:pPr algn="ctr"/>
            <a:r>
              <a:rPr lang="en-IN" sz="2800" b="1" dirty="0">
                <a:solidFill>
                  <a:schemeClr val="bg1"/>
                </a:solidFill>
                <a:latin typeface="Ubuntu" panose="020B0504030602030204" pitchFamily="34" charset="0"/>
                <a:ea typeface="Inter Black" panose="020B0A02050000000004" pitchFamily="34" charset="0"/>
              </a:rPr>
              <a:t>METHODOLOGY</a:t>
            </a:r>
          </a:p>
        </p:txBody>
      </p:sp>
      <p:sp>
        <p:nvSpPr>
          <p:cNvPr id="34" name="Oval 33"/>
          <p:cNvSpPr/>
          <p:nvPr/>
        </p:nvSpPr>
        <p:spPr>
          <a:xfrm>
            <a:off x="6108441" y="771556"/>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solidFill>
              </a:rPr>
              <a:t>Approach</a:t>
            </a:r>
          </a:p>
        </p:txBody>
      </p:sp>
      <p:sp>
        <p:nvSpPr>
          <p:cNvPr id="37" name="Oval 36"/>
          <p:cNvSpPr/>
          <p:nvPr/>
        </p:nvSpPr>
        <p:spPr>
          <a:xfrm>
            <a:off x="3350643" y="1653617"/>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solidFill>
              </a:rPr>
              <a:t>Tools</a:t>
            </a:r>
          </a:p>
        </p:txBody>
      </p:sp>
      <p:sp>
        <p:nvSpPr>
          <p:cNvPr id="38" name="Oval 37"/>
          <p:cNvSpPr/>
          <p:nvPr/>
        </p:nvSpPr>
        <p:spPr>
          <a:xfrm>
            <a:off x="6108441" y="4931724"/>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solidFill>
              </a:rPr>
              <a:t>Technology</a:t>
            </a:r>
          </a:p>
        </p:txBody>
      </p:sp>
      <p:sp>
        <p:nvSpPr>
          <p:cNvPr id="39" name="Oval 38"/>
          <p:cNvSpPr/>
          <p:nvPr/>
        </p:nvSpPr>
        <p:spPr>
          <a:xfrm>
            <a:off x="3350643" y="3972946"/>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solidFill>
              </a:rPr>
              <a:t>Techniques</a:t>
            </a:r>
          </a:p>
        </p:txBody>
      </p:sp>
      <p:sp>
        <p:nvSpPr>
          <p:cNvPr id="40" name="Rectangle 39"/>
          <p:cNvSpPr/>
          <p:nvPr/>
        </p:nvSpPr>
        <p:spPr>
          <a:xfrm>
            <a:off x="12120464" y="0"/>
            <a:ext cx="71535" cy="6858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1"/>
          <p:cNvSpPr txBox="1"/>
          <p:nvPr/>
        </p:nvSpPr>
        <p:spPr>
          <a:xfrm>
            <a:off x="-1939677" y="171062"/>
            <a:ext cx="11810369" cy="523220"/>
          </a:xfrm>
          <a:prstGeom prst="rect">
            <a:avLst/>
          </a:prstGeom>
          <a:noFill/>
        </p:spPr>
        <p:txBody>
          <a:bodyPr wrap="square" rtlCol="0">
            <a:spAutoFit/>
          </a:bodyPr>
          <a:lstStyle/>
          <a:p>
            <a:pPr algn="ctr"/>
            <a:r>
              <a:rPr lang="en-IN" sz="2800" b="1" dirty="0">
                <a:solidFill>
                  <a:schemeClr val="bg1"/>
                </a:solidFill>
                <a:latin typeface="Ubuntu" panose="020B0504030602030204" pitchFamily="34" charset="0"/>
                <a:ea typeface="Inter Black" panose="020B0A02050000000004" pitchFamily="34" charset="0"/>
              </a:rPr>
              <a:t>METHODOLOGY</a:t>
            </a:r>
          </a:p>
        </p:txBody>
      </p:sp>
      <p:sp>
        <p:nvSpPr>
          <p:cNvPr id="34" name="Oval 33"/>
          <p:cNvSpPr/>
          <p:nvPr/>
        </p:nvSpPr>
        <p:spPr>
          <a:xfrm>
            <a:off x="5876700" y="2506169"/>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Approach</a:t>
            </a:r>
          </a:p>
        </p:txBody>
      </p:sp>
      <p:sp>
        <p:nvSpPr>
          <p:cNvPr id="37" name="Oval 36"/>
          <p:cNvSpPr/>
          <p:nvPr/>
        </p:nvSpPr>
        <p:spPr>
          <a:xfrm>
            <a:off x="2296284" y="1980188"/>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Tools</a:t>
            </a:r>
          </a:p>
        </p:txBody>
      </p:sp>
      <p:sp>
        <p:nvSpPr>
          <p:cNvPr id="38" name="Oval 37"/>
          <p:cNvSpPr/>
          <p:nvPr/>
        </p:nvSpPr>
        <p:spPr>
          <a:xfrm>
            <a:off x="4723829" y="4997038"/>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Technology</a:t>
            </a:r>
          </a:p>
        </p:txBody>
      </p:sp>
      <p:sp>
        <p:nvSpPr>
          <p:cNvPr id="39" name="Oval 38"/>
          <p:cNvSpPr/>
          <p:nvPr/>
        </p:nvSpPr>
        <p:spPr>
          <a:xfrm>
            <a:off x="2296284" y="4206211"/>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Techniques</a:t>
            </a:r>
          </a:p>
        </p:txBody>
      </p:sp>
      <p:sp>
        <p:nvSpPr>
          <p:cNvPr id="40" name="Rectangle 39"/>
          <p:cNvSpPr/>
          <p:nvPr/>
        </p:nvSpPr>
        <p:spPr>
          <a:xfrm>
            <a:off x="8304245" y="0"/>
            <a:ext cx="3887755" cy="6858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3" name="Rectangle 1"/>
          <p:cNvSpPr>
            <a:spLocks noChangeArrowheads="1"/>
          </p:cNvSpPr>
          <p:nvPr/>
        </p:nvSpPr>
        <p:spPr bwMode="auto">
          <a:xfrm>
            <a:off x="8623629" y="63344"/>
            <a:ext cx="3149672" cy="6494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lang="en-US" altLang="en-US" sz="1600" b="1" dirty="0">
                <a:latin typeface="Arial" panose="020B0604020202020204" pitchFamily="34" charset="0"/>
              </a:rPr>
              <a:t>Requirement Analysis:- </a:t>
            </a:r>
            <a:r>
              <a:rPr lang="en-US" altLang="en-US" sz="1600" dirty="0">
                <a:latin typeface="Arial" panose="020B0604020202020204" pitchFamily="34" charset="0"/>
              </a:rPr>
              <a:t>Gathering user and system requirements from airline operations.</a:t>
            </a:r>
          </a:p>
          <a:p>
            <a:pPr marL="0" marR="0" lvl="0" indent="0" algn="l" defTabSz="914400" rtl="0" eaLnBrk="0" fontAlgn="base" latinLnBrk="0" hangingPunct="0">
              <a:lnSpc>
                <a:spcPct val="100000"/>
              </a:lnSpc>
              <a:spcBef>
                <a:spcPct val="0"/>
              </a:spcBef>
              <a:spcAft>
                <a:spcPct val="0"/>
              </a:spcAft>
              <a:buClrTx/>
              <a:buSzTx/>
              <a:buFontTx/>
              <a:buChar char="•"/>
            </a:pPr>
            <a:endParaRPr lang="en-US" altLang="en-US" sz="16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600" b="1" i="0" u="none" strike="noStrike" cap="none" normalizeH="0" baseline="0" dirty="0">
                <a:ln>
                  <a:noFill/>
                </a:ln>
                <a:solidFill>
                  <a:schemeClr val="tx1"/>
                </a:solidFill>
                <a:effectLst/>
                <a:latin typeface="Arial" panose="020B0604020202020204" pitchFamily="34" charset="0"/>
              </a:rPr>
              <a:t>Design:-</a:t>
            </a:r>
          </a:p>
          <a:p>
            <a:pPr marL="0" marR="0" lvl="0" indent="0" algn="l" defTabSz="914400" rtl="0" eaLnBrk="0" fontAlgn="base" latinLnBrk="0" hangingPunct="0">
              <a:lnSpc>
                <a:spcPct val="100000"/>
              </a:lnSpc>
              <a:spcBef>
                <a:spcPct val="0"/>
              </a:spcBef>
              <a:spcAft>
                <a:spcPct val="0"/>
              </a:spcAft>
              <a:buClrTx/>
              <a:buSzTx/>
            </a:pPr>
            <a:r>
              <a:rPr kumimoji="0" lang="en-US" altLang="en-US" sz="1600" i="0" u="none" strike="noStrike" cap="none" normalizeH="0" baseline="0" dirty="0">
                <a:ln>
                  <a:noFill/>
                </a:ln>
                <a:solidFill>
                  <a:schemeClr val="tx1"/>
                </a:solidFill>
                <a:effectLst/>
                <a:latin typeface="Arial" panose="020B0604020202020204" pitchFamily="34" charset="0"/>
              </a:rPr>
              <a:t>Creating system architecture, ER diagrams, use case models, and wireframes.</a:t>
            </a:r>
          </a:p>
          <a:p>
            <a:pPr marL="0" marR="0" lvl="0" indent="0" algn="l" defTabSz="914400" rtl="0" eaLnBrk="0" fontAlgn="base" latinLnBrk="0" hangingPunct="0">
              <a:lnSpc>
                <a:spcPct val="100000"/>
              </a:lnSpc>
              <a:spcBef>
                <a:spcPct val="0"/>
              </a:spcBef>
              <a:spcAft>
                <a:spcPct val="0"/>
              </a:spcAft>
              <a:buClrTx/>
              <a:buSzTx/>
            </a:pPr>
            <a:endParaRPr lang="en-US" altLang="en-US" sz="16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600" b="1" i="0" u="none" strike="noStrike" cap="none" normalizeH="0" baseline="0" dirty="0">
                <a:ln>
                  <a:noFill/>
                </a:ln>
                <a:solidFill>
                  <a:schemeClr val="tx1"/>
                </a:solidFill>
                <a:effectLst/>
                <a:latin typeface="Arial" panose="020B0604020202020204" pitchFamily="34" charset="0"/>
              </a:rPr>
              <a:t>Implementation:-</a:t>
            </a:r>
            <a:endParaRPr kumimoji="0" lang="en-US" altLang="en-US" sz="160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r>
              <a:rPr lang="en-US" altLang="en-US" sz="1600" dirty="0">
                <a:latin typeface="Arial" panose="020B0604020202020204" pitchFamily="34" charset="0"/>
              </a:rPr>
              <a:t>Developing modules like flight management, booking, and authentication</a:t>
            </a:r>
          </a:p>
          <a:p>
            <a:pPr lvl="0" eaLnBrk="0" fontAlgn="base" hangingPunct="0">
              <a:spcBef>
                <a:spcPct val="0"/>
              </a:spcBef>
              <a:spcAft>
                <a:spcPct val="0"/>
              </a:spcAft>
            </a:pPr>
            <a:endParaRPr lang="en-US" altLang="en-US" sz="16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600" b="1" i="0" u="none" strike="noStrike" cap="none" normalizeH="0" baseline="0" dirty="0">
                <a:ln>
                  <a:noFill/>
                </a:ln>
                <a:solidFill>
                  <a:schemeClr val="tx1"/>
                </a:solidFill>
                <a:effectLst/>
                <a:latin typeface="Arial" panose="020B0604020202020204" pitchFamily="34" charset="0"/>
              </a:rPr>
              <a:t>Testing:- </a:t>
            </a:r>
            <a:r>
              <a:rPr lang="en-US" altLang="en-US" sz="1600" dirty="0">
                <a:latin typeface="Arial" panose="020B0604020202020204" pitchFamily="34" charset="0"/>
              </a:rPr>
              <a:t>Unit testing, integration testing, and user acceptance testing</a:t>
            </a:r>
            <a:r>
              <a:rPr kumimoji="0" lang="en-US" altLang="en-US" sz="1600"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pPr>
            <a:endParaRPr lang="en-US" altLang="en-US" sz="1600" b="1" dirty="0">
              <a:latin typeface="Arial" panose="020B0604020202020204" pitchFamily="34" charset="0"/>
            </a:endParaRPr>
          </a:p>
          <a:p>
            <a:pPr marR="0" indent="0" eaLnBrk="0" fontAlgn="base" hangingPunct="0">
              <a:lnSpc>
                <a:spcPct val="100000"/>
              </a:lnSpc>
              <a:spcBef>
                <a:spcPct val="0"/>
              </a:spcBef>
              <a:spcAft>
                <a:spcPct val="0"/>
              </a:spcAft>
              <a:buClrTx/>
              <a:buSzTx/>
            </a:pPr>
            <a:r>
              <a:rPr kumimoji="0" lang="en-US" altLang="en-US" sz="1600" b="1" i="0" u="none" strike="noStrike" cap="none" normalizeH="0" baseline="0" dirty="0">
                <a:ln>
                  <a:noFill/>
                </a:ln>
                <a:solidFill>
                  <a:schemeClr val="tx1"/>
                </a:solidFill>
                <a:effectLst/>
                <a:latin typeface="Arial" panose="020B0604020202020204" pitchFamily="34" charset="0"/>
              </a:rPr>
              <a:t>Deployment:- </a:t>
            </a:r>
            <a:r>
              <a:rPr lang="en-US" altLang="en-US" sz="1600" dirty="0">
                <a:latin typeface="Arial" panose="020B0604020202020204" pitchFamily="34" charset="0"/>
              </a:rPr>
              <a:t>Installation and execution in a real-world or demo environment.</a:t>
            </a:r>
          </a:p>
          <a:p>
            <a:pPr marL="0" marR="0" lvl="0" indent="0" algn="l" defTabSz="914400" rtl="0" eaLnBrk="0" fontAlgn="base" latinLnBrk="0" hangingPunct="0">
              <a:lnSpc>
                <a:spcPct val="100000"/>
              </a:lnSpc>
              <a:spcBef>
                <a:spcPct val="0"/>
              </a:spcBef>
              <a:spcAft>
                <a:spcPct val="0"/>
              </a:spcAft>
              <a:buClrTx/>
              <a:buSzTx/>
              <a:buFontTx/>
              <a:buChar char="•"/>
            </a:pPr>
            <a:endParaRPr lang="en-US" altLang="en-US" sz="16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600" b="1" i="0" u="none" strike="noStrike" cap="none" normalizeH="0" baseline="0" dirty="0">
                <a:ln>
                  <a:noFill/>
                </a:ln>
                <a:solidFill>
                  <a:schemeClr val="tx1"/>
                </a:solidFill>
                <a:effectLst/>
                <a:latin typeface="Arial" panose="020B0604020202020204" pitchFamily="34" charset="0"/>
              </a:rPr>
              <a:t>Maintenance:- </a:t>
            </a:r>
            <a:r>
              <a:rPr lang="en-US" altLang="en-US" sz="1600" dirty="0">
                <a:latin typeface="Arial" panose="020B0604020202020204" pitchFamily="34" charset="0"/>
              </a:rPr>
              <a:t>Continuous feedback loop for future enhancements.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1"/>
          <p:cNvSpPr txBox="1"/>
          <p:nvPr/>
        </p:nvSpPr>
        <p:spPr>
          <a:xfrm>
            <a:off x="-1939677" y="171062"/>
            <a:ext cx="11810369" cy="523220"/>
          </a:xfrm>
          <a:prstGeom prst="rect">
            <a:avLst/>
          </a:prstGeom>
          <a:noFill/>
        </p:spPr>
        <p:txBody>
          <a:bodyPr wrap="square" rtlCol="0">
            <a:spAutoFit/>
          </a:bodyPr>
          <a:lstStyle/>
          <a:p>
            <a:pPr algn="ctr"/>
            <a:r>
              <a:rPr lang="en-IN" sz="2800" b="1" dirty="0">
                <a:solidFill>
                  <a:schemeClr val="bg1"/>
                </a:solidFill>
                <a:latin typeface="Ubuntu" panose="020B0504030602030204" pitchFamily="34" charset="0"/>
                <a:ea typeface="Inter Black" panose="020B0A02050000000004" pitchFamily="34" charset="0"/>
              </a:rPr>
              <a:t>METHODOLOGY</a:t>
            </a:r>
          </a:p>
        </p:txBody>
      </p:sp>
      <p:sp>
        <p:nvSpPr>
          <p:cNvPr id="34" name="Oval 33"/>
          <p:cNvSpPr/>
          <p:nvPr/>
        </p:nvSpPr>
        <p:spPr>
          <a:xfrm>
            <a:off x="4723829" y="780006"/>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Approach</a:t>
            </a:r>
          </a:p>
        </p:txBody>
      </p:sp>
      <p:sp>
        <p:nvSpPr>
          <p:cNvPr id="37" name="Oval 36"/>
          <p:cNvSpPr/>
          <p:nvPr/>
        </p:nvSpPr>
        <p:spPr>
          <a:xfrm>
            <a:off x="5763440" y="2638173"/>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Tools</a:t>
            </a:r>
          </a:p>
        </p:txBody>
      </p:sp>
      <p:sp>
        <p:nvSpPr>
          <p:cNvPr id="38" name="Oval 37"/>
          <p:cNvSpPr/>
          <p:nvPr/>
        </p:nvSpPr>
        <p:spPr>
          <a:xfrm>
            <a:off x="4723829" y="4997038"/>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Technology</a:t>
            </a:r>
          </a:p>
        </p:txBody>
      </p:sp>
      <p:sp>
        <p:nvSpPr>
          <p:cNvPr id="39" name="Oval 38"/>
          <p:cNvSpPr/>
          <p:nvPr/>
        </p:nvSpPr>
        <p:spPr>
          <a:xfrm>
            <a:off x="2296284" y="4206211"/>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Techniques</a:t>
            </a:r>
          </a:p>
        </p:txBody>
      </p:sp>
      <p:sp>
        <p:nvSpPr>
          <p:cNvPr id="40" name="Rectangle 39"/>
          <p:cNvSpPr/>
          <p:nvPr/>
        </p:nvSpPr>
        <p:spPr>
          <a:xfrm>
            <a:off x="8304245" y="1"/>
            <a:ext cx="3887755"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2" name="Rectangle 1"/>
          <p:cNvSpPr>
            <a:spLocks noChangeArrowheads="1"/>
          </p:cNvSpPr>
          <p:nvPr/>
        </p:nvSpPr>
        <p:spPr bwMode="auto">
          <a:xfrm>
            <a:off x="8717942" y="1043730"/>
            <a:ext cx="2916456"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lang="en-US" altLang="en-US" sz="1600" b="1" dirty="0">
                <a:latin typeface="Arial" panose="020B0604020202020204" pitchFamily="34" charset="0"/>
              </a:rPr>
              <a:t>Development Eclipse:-</a:t>
            </a:r>
          </a:p>
          <a:p>
            <a:pPr marL="0" marR="0" lvl="0" indent="0" algn="l" defTabSz="914400" rtl="0" eaLnBrk="0" fontAlgn="base" latinLnBrk="0" hangingPunct="0">
              <a:lnSpc>
                <a:spcPct val="100000"/>
              </a:lnSpc>
              <a:spcBef>
                <a:spcPct val="0"/>
              </a:spcBef>
              <a:spcAft>
                <a:spcPct val="0"/>
              </a:spcAft>
              <a:buClrTx/>
              <a:buSzTx/>
            </a:pPr>
            <a:r>
              <a:rPr lang="en-US" altLang="en-US" sz="1600" dirty="0">
                <a:latin typeface="Arial" panose="020B0604020202020204" pitchFamily="34" charset="0"/>
              </a:rPr>
              <a:t>Used to write, debug, and compile code efficiently for desktop or mobile applications.</a:t>
            </a:r>
          </a:p>
          <a:p>
            <a:pPr marL="0" marR="0" lvl="0" indent="0" algn="l" defTabSz="914400" rtl="0" eaLnBrk="0" fontAlgn="base" latinLnBrk="0" hangingPunct="0">
              <a:lnSpc>
                <a:spcPct val="100000"/>
              </a:lnSpc>
              <a:spcBef>
                <a:spcPct val="0"/>
              </a:spcBef>
              <a:spcAft>
                <a:spcPct val="0"/>
              </a:spcAft>
              <a:buClrTx/>
              <a:buSzTx/>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600" b="1" i="0" u="none" strike="noStrike" cap="none" normalizeH="0" baseline="0" dirty="0">
                <a:ln>
                  <a:noFill/>
                </a:ln>
                <a:solidFill>
                  <a:schemeClr val="tx1"/>
                </a:solidFill>
                <a:effectLst/>
                <a:latin typeface="Arial" panose="020B0604020202020204" pitchFamily="34" charset="0"/>
              </a:rPr>
              <a:t>UI Design / Prototyping Draw.io:-</a:t>
            </a:r>
          </a:p>
          <a:p>
            <a:pPr marL="0" marR="0" lvl="0" indent="0" algn="l" defTabSz="914400" rtl="0" eaLnBrk="0" fontAlgn="base" latinLnBrk="0" hangingPunct="0">
              <a:lnSpc>
                <a:spcPct val="100000"/>
              </a:lnSpc>
              <a:spcBef>
                <a:spcPct val="0"/>
              </a:spcBef>
              <a:spcAft>
                <a:spcPct val="0"/>
              </a:spcAft>
              <a:buClrTx/>
              <a:buSzTx/>
            </a:pPr>
            <a:r>
              <a:rPr lang="en-US" altLang="en-US" sz="1600" dirty="0">
                <a:latin typeface="Arial" panose="020B0604020202020204" pitchFamily="34" charset="0"/>
              </a:rPr>
              <a:t>Used to create wireframes, mockups, and system diagrams (e.g., ER, flowcharts).</a:t>
            </a:r>
          </a:p>
          <a:p>
            <a:pPr marL="0" marR="0" lvl="0" indent="0" algn="l" defTabSz="914400" rtl="0" eaLnBrk="0" fontAlgn="base" latinLnBrk="0" hangingPunct="0">
              <a:lnSpc>
                <a:spcPct val="100000"/>
              </a:lnSpc>
              <a:spcBef>
                <a:spcPct val="0"/>
              </a:spcBef>
              <a:spcAft>
                <a:spcPct val="0"/>
              </a:spcAft>
              <a:buClrTx/>
              <a:buSzTx/>
            </a:pPr>
            <a:endParaRPr lang="en-US" altLang="en-US" sz="16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600" b="1" i="0" u="none" strike="noStrike" cap="none" normalizeH="0" baseline="0" dirty="0">
                <a:ln>
                  <a:noFill/>
                </a:ln>
                <a:solidFill>
                  <a:schemeClr val="tx1"/>
                </a:solidFill>
                <a:effectLst/>
                <a:latin typeface="Arial" panose="020B0604020202020204" pitchFamily="34" charset="0"/>
              </a:rPr>
              <a:t>Database Management MySQL Workbench, phpMyAdmin:-</a:t>
            </a:r>
          </a:p>
          <a:p>
            <a:pPr marL="0" marR="0" lvl="0" indent="0" algn="l" defTabSz="914400" rtl="0" eaLnBrk="0" fontAlgn="base" latinLnBrk="0" hangingPunct="0">
              <a:lnSpc>
                <a:spcPct val="100000"/>
              </a:lnSpc>
              <a:spcBef>
                <a:spcPct val="0"/>
              </a:spcBef>
              <a:spcAft>
                <a:spcPct val="0"/>
              </a:spcAft>
              <a:buClrTx/>
              <a:buSzTx/>
            </a:pPr>
            <a:r>
              <a:rPr lang="en-US" altLang="en-US" sz="1600" dirty="0">
                <a:latin typeface="Arial" panose="020B0604020202020204" pitchFamily="34" charset="0"/>
              </a:rPr>
              <a:t>Helps design, manage, and interact with the database through a graphical interface.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1"/>
          <p:cNvSpPr txBox="1"/>
          <p:nvPr/>
        </p:nvSpPr>
        <p:spPr>
          <a:xfrm>
            <a:off x="-1939677" y="171062"/>
            <a:ext cx="11810369" cy="523220"/>
          </a:xfrm>
          <a:prstGeom prst="rect">
            <a:avLst/>
          </a:prstGeom>
          <a:noFill/>
        </p:spPr>
        <p:txBody>
          <a:bodyPr wrap="square" rtlCol="0">
            <a:spAutoFit/>
          </a:bodyPr>
          <a:lstStyle/>
          <a:p>
            <a:pPr algn="ctr"/>
            <a:r>
              <a:rPr lang="en-IN" sz="2800" b="1" dirty="0">
                <a:solidFill>
                  <a:schemeClr val="bg1"/>
                </a:solidFill>
                <a:latin typeface="Ubuntu" panose="020B0504030602030204" pitchFamily="34" charset="0"/>
                <a:ea typeface="Inter Black" panose="020B0A02050000000004" pitchFamily="34" charset="0"/>
              </a:rPr>
              <a:t>METHODOLOGY</a:t>
            </a:r>
          </a:p>
        </p:txBody>
      </p:sp>
      <p:sp>
        <p:nvSpPr>
          <p:cNvPr id="34" name="Oval 33"/>
          <p:cNvSpPr/>
          <p:nvPr/>
        </p:nvSpPr>
        <p:spPr>
          <a:xfrm>
            <a:off x="4723829" y="780006"/>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Approach</a:t>
            </a:r>
          </a:p>
        </p:txBody>
      </p:sp>
      <p:sp>
        <p:nvSpPr>
          <p:cNvPr id="37" name="Oval 36"/>
          <p:cNvSpPr/>
          <p:nvPr/>
        </p:nvSpPr>
        <p:spPr>
          <a:xfrm>
            <a:off x="2296284" y="1659419"/>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Tools</a:t>
            </a:r>
          </a:p>
        </p:txBody>
      </p:sp>
      <p:sp>
        <p:nvSpPr>
          <p:cNvPr id="38" name="Oval 37"/>
          <p:cNvSpPr/>
          <p:nvPr/>
        </p:nvSpPr>
        <p:spPr>
          <a:xfrm>
            <a:off x="4723829" y="4997038"/>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Technology</a:t>
            </a:r>
          </a:p>
        </p:txBody>
      </p:sp>
      <p:sp>
        <p:nvSpPr>
          <p:cNvPr id="39" name="Oval 38"/>
          <p:cNvSpPr/>
          <p:nvPr/>
        </p:nvSpPr>
        <p:spPr>
          <a:xfrm>
            <a:off x="6171017" y="2638173"/>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Techniques</a:t>
            </a:r>
          </a:p>
        </p:txBody>
      </p:sp>
      <p:sp>
        <p:nvSpPr>
          <p:cNvPr id="40" name="Rectangle 39"/>
          <p:cNvSpPr/>
          <p:nvPr/>
        </p:nvSpPr>
        <p:spPr>
          <a:xfrm>
            <a:off x="8304245" y="1"/>
            <a:ext cx="3887755"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3" name="Rectangle 1"/>
          <p:cNvSpPr>
            <a:spLocks noChangeArrowheads="1"/>
          </p:cNvSpPr>
          <p:nvPr/>
        </p:nvSpPr>
        <p:spPr bwMode="auto">
          <a:xfrm>
            <a:off x="8475165" y="-171985"/>
            <a:ext cx="3513507" cy="7201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endParaRPr lang="en-US" altLang="en-US" sz="16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endParaRPr lang="en-US" altLang="en-US" sz="16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lang="en-US" altLang="en-US" sz="1600" b="1" dirty="0">
                <a:latin typeface="Arial" panose="020B0604020202020204" pitchFamily="34" charset="0"/>
              </a:rPr>
              <a:t>Object-Oriented Programming (OOP):-</a:t>
            </a:r>
          </a:p>
          <a:p>
            <a:pPr marL="0" marR="0" lvl="0" indent="0" algn="l" defTabSz="914400" rtl="0" eaLnBrk="0" fontAlgn="base" latinLnBrk="0" hangingPunct="0">
              <a:lnSpc>
                <a:spcPct val="100000"/>
              </a:lnSpc>
              <a:spcBef>
                <a:spcPct val="0"/>
              </a:spcBef>
              <a:spcAft>
                <a:spcPct val="0"/>
              </a:spcAft>
              <a:buClrTx/>
              <a:buSzTx/>
            </a:pPr>
            <a:r>
              <a:rPr lang="en-US" altLang="en-US" sz="1600" dirty="0">
                <a:latin typeface="Arial" panose="020B0604020202020204" pitchFamily="34" charset="0"/>
              </a:rPr>
              <a:t>Used to build the system using classes and objects for better modularity, reusability, and scalability</a:t>
            </a:r>
          </a:p>
          <a:p>
            <a:pPr marL="0" marR="0" lvl="0" indent="0" algn="l" defTabSz="914400" rtl="0" eaLnBrk="0" fontAlgn="base" latinLnBrk="0" hangingPunct="0">
              <a:lnSpc>
                <a:spcPct val="100000"/>
              </a:lnSpc>
              <a:spcBef>
                <a:spcPct val="0"/>
              </a:spcBef>
              <a:spcAft>
                <a:spcPct val="0"/>
              </a:spcAft>
              <a:buClrTx/>
              <a:buSzTx/>
            </a:pPr>
            <a:endParaRPr lang="en-US" altLang="en-US" sz="16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endParaRPr lang="en-US" altLang="en-US" sz="16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lang="en-US" altLang="en-US" sz="1600" b="1" dirty="0">
                <a:latin typeface="Arial" panose="020B0604020202020204" pitchFamily="34" charset="0"/>
              </a:rPr>
              <a:t>Model-View-Controller (MVC):-</a:t>
            </a:r>
          </a:p>
          <a:p>
            <a:pPr marL="0" marR="0" lvl="0" indent="0" algn="l" defTabSz="914400" rtl="0" eaLnBrk="0" fontAlgn="base" latinLnBrk="0" hangingPunct="0">
              <a:lnSpc>
                <a:spcPct val="100000"/>
              </a:lnSpc>
              <a:spcBef>
                <a:spcPct val="0"/>
              </a:spcBef>
              <a:spcAft>
                <a:spcPct val="0"/>
              </a:spcAft>
              <a:buClrTx/>
              <a:buSzTx/>
            </a:pPr>
            <a:r>
              <a:rPr lang="en-US" altLang="en-US" sz="1600" dirty="0">
                <a:latin typeface="Arial" panose="020B0604020202020204" pitchFamily="34" charset="0"/>
              </a:rPr>
              <a:t>Organizes</a:t>
            </a:r>
            <a:r>
              <a:rPr lang="en-US" altLang="en-US" sz="1600" b="1" dirty="0">
                <a:latin typeface="Arial" panose="020B0604020202020204" pitchFamily="34" charset="0"/>
              </a:rPr>
              <a:t> </a:t>
            </a:r>
            <a:r>
              <a:rPr lang="en-US" altLang="en-US" sz="1600" dirty="0">
                <a:latin typeface="Arial" panose="020B0604020202020204" pitchFamily="34" charset="0"/>
              </a:rPr>
              <a:t>the code into layers (Model, View, Controller) to separate UI, logic, and data handling for clean architecture.</a:t>
            </a:r>
          </a:p>
          <a:p>
            <a:pPr marL="0" marR="0" lvl="0" indent="0" algn="l" defTabSz="914400" rtl="0" eaLnBrk="0" fontAlgn="base" latinLnBrk="0" hangingPunct="0">
              <a:lnSpc>
                <a:spcPct val="100000"/>
              </a:lnSpc>
              <a:spcBef>
                <a:spcPct val="0"/>
              </a:spcBef>
              <a:spcAft>
                <a:spcPct val="0"/>
              </a:spcAft>
              <a:buClrTx/>
              <a:buSzTx/>
            </a:pPr>
            <a:endParaRPr lang="en-US" altLang="en-US" sz="16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endParaRPr lang="en-US" altLang="en-US" sz="16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lang="en-US" altLang="en-US" sz="1600" b="1" dirty="0">
                <a:latin typeface="Arial" panose="020B0604020202020204" pitchFamily="34" charset="0"/>
              </a:rPr>
              <a:t>Encryption &amp; Authentication:-  </a:t>
            </a:r>
          </a:p>
          <a:p>
            <a:pPr marL="0" marR="0" lvl="0" indent="0" algn="l" defTabSz="914400" rtl="0" eaLnBrk="0" fontAlgn="base" latinLnBrk="0" hangingPunct="0">
              <a:lnSpc>
                <a:spcPct val="100000"/>
              </a:lnSpc>
              <a:spcBef>
                <a:spcPct val="0"/>
              </a:spcBef>
              <a:spcAft>
                <a:spcPct val="0"/>
              </a:spcAft>
              <a:buClrTx/>
              <a:buSzTx/>
            </a:pPr>
            <a:r>
              <a:rPr lang="en-US" altLang="en-US" sz="1600" b="1" dirty="0">
                <a:latin typeface="Arial" panose="020B0604020202020204" pitchFamily="34" charset="0"/>
              </a:rPr>
              <a:t> </a:t>
            </a:r>
            <a:r>
              <a:rPr lang="en-US" altLang="en-US" sz="1600" dirty="0">
                <a:latin typeface="Arial" panose="020B0604020202020204" pitchFamily="34" charset="0"/>
              </a:rPr>
              <a:t>Protects sensitive data and restricts system access to authorized users only.</a:t>
            </a:r>
          </a:p>
          <a:p>
            <a:pPr marL="0" marR="0" lvl="0" indent="0" algn="l" defTabSz="914400" rtl="0" eaLnBrk="0" fontAlgn="base" latinLnBrk="0" hangingPunct="0">
              <a:lnSpc>
                <a:spcPct val="100000"/>
              </a:lnSpc>
              <a:spcBef>
                <a:spcPct val="0"/>
              </a:spcBef>
              <a:spcAft>
                <a:spcPct val="0"/>
              </a:spcAft>
              <a:buClrTx/>
              <a:buSzTx/>
            </a:pPr>
            <a:endParaRPr lang="en-US" altLang="en-US" sz="16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endParaRPr lang="en-US" altLang="en-US" sz="16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lang="en-US" altLang="en-US" sz="1600" b="1" dirty="0">
                <a:latin typeface="Arial" panose="020B0604020202020204" pitchFamily="34" charset="0"/>
              </a:rPr>
              <a:t>Agile Principles:-</a:t>
            </a:r>
          </a:p>
          <a:p>
            <a:pPr marL="0" marR="0" lvl="0" indent="0" algn="l" defTabSz="914400" rtl="0" eaLnBrk="0" fontAlgn="base" latinLnBrk="0" hangingPunct="0">
              <a:lnSpc>
                <a:spcPct val="100000"/>
              </a:lnSpc>
              <a:spcBef>
                <a:spcPct val="0"/>
              </a:spcBef>
              <a:spcAft>
                <a:spcPct val="0"/>
              </a:spcAft>
              <a:buClrTx/>
              <a:buSzTx/>
            </a:pPr>
            <a:r>
              <a:rPr lang="en-US" altLang="en-US" sz="1600" dirty="0">
                <a:latin typeface="Arial" panose="020B0604020202020204" pitchFamily="34" charset="0"/>
              </a:rPr>
              <a:t>Enables flexible and adaptive development through short cycles and continuous feedback</a:t>
            </a:r>
            <a:r>
              <a:rPr lang="en-US" altLang="en-US" sz="1600" b="1" dirty="0">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pPr>
            <a:endParaRPr lang="en-US" altLang="en-US" sz="16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endParaRPr lang="en-US" altLang="en-US" sz="16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endParaRPr lang="en-US" altLang="en-US" sz="1400" dirty="0">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1"/>
          <p:cNvSpPr txBox="1"/>
          <p:nvPr/>
        </p:nvSpPr>
        <p:spPr>
          <a:xfrm>
            <a:off x="-1939677" y="171062"/>
            <a:ext cx="11810369" cy="523220"/>
          </a:xfrm>
          <a:prstGeom prst="rect">
            <a:avLst/>
          </a:prstGeom>
          <a:noFill/>
        </p:spPr>
        <p:txBody>
          <a:bodyPr wrap="square" rtlCol="0">
            <a:spAutoFit/>
          </a:bodyPr>
          <a:lstStyle/>
          <a:p>
            <a:pPr algn="ctr"/>
            <a:r>
              <a:rPr lang="en-IN" sz="2800" b="1" dirty="0">
                <a:solidFill>
                  <a:schemeClr val="bg1"/>
                </a:solidFill>
                <a:latin typeface="Ubuntu" panose="020B0504030602030204" pitchFamily="34" charset="0"/>
                <a:ea typeface="Inter Black" panose="020B0A02050000000004" pitchFamily="34" charset="0"/>
              </a:rPr>
              <a:t>METHODOLOGY</a:t>
            </a:r>
          </a:p>
        </p:txBody>
      </p:sp>
      <p:sp>
        <p:nvSpPr>
          <p:cNvPr id="34" name="Oval 33"/>
          <p:cNvSpPr/>
          <p:nvPr/>
        </p:nvSpPr>
        <p:spPr>
          <a:xfrm>
            <a:off x="4723829" y="780006"/>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Approach</a:t>
            </a:r>
          </a:p>
        </p:txBody>
      </p:sp>
      <p:sp>
        <p:nvSpPr>
          <p:cNvPr id="37" name="Oval 36"/>
          <p:cNvSpPr/>
          <p:nvPr/>
        </p:nvSpPr>
        <p:spPr>
          <a:xfrm>
            <a:off x="2296284" y="1659419"/>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Tools</a:t>
            </a:r>
          </a:p>
        </p:txBody>
      </p:sp>
      <p:sp>
        <p:nvSpPr>
          <p:cNvPr id="38" name="Oval 37"/>
          <p:cNvSpPr/>
          <p:nvPr/>
        </p:nvSpPr>
        <p:spPr>
          <a:xfrm>
            <a:off x="6119415" y="2638172"/>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Technology</a:t>
            </a:r>
          </a:p>
        </p:txBody>
      </p:sp>
      <p:sp>
        <p:nvSpPr>
          <p:cNvPr id="39" name="Oval 38"/>
          <p:cNvSpPr/>
          <p:nvPr/>
        </p:nvSpPr>
        <p:spPr>
          <a:xfrm>
            <a:off x="2296284" y="3962148"/>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Techniques</a:t>
            </a:r>
          </a:p>
        </p:txBody>
      </p:sp>
      <p:sp>
        <p:nvSpPr>
          <p:cNvPr id="40" name="Rectangle 39"/>
          <p:cNvSpPr/>
          <p:nvPr/>
        </p:nvSpPr>
        <p:spPr>
          <a:xfrm>
            <a:off x="8306303" y="0"/>
            <a:ext cx="3887755"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3" name="Rectangle 1"/>
          <p:cNvSpPr>
            <a:spLocks noChangeArrowheads="1"/>
          </p:cNvSpPr>
          <p:nvPr/>
        </p:nvSpPr>
        <p:spPr bwMode="auto">
          <a:xfrm flipV="1">
            <a:off x="16693609" y="7430774"/>
            <a:ext cx="88833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900" b="0" i="0" u="none" strike="noStrike" cap="none" normalizeH="0" baseline="0" dirty="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8711115" y="1166841"/>
            <a:ext cx="314893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lang="en-US" altLang="en-US" sz="1600" b="1" dirty="0">
                <a:latin typeface="Arial" panose="020B0604020202020204" pitchFamily="34" charset="0"/>
              </a:rPr>
              <a:t>Front-End Java (Desktop UI):-</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The</a:t>
            </a:r>
            <a:r>
              <a:rPr lang="en-US" altLang="en-US" sz="1600" dirty="0">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rPr>
              <a:t>Used to create interactive and user-friendly interfaces for both web and desktop users.</a:t>
            </a:r>
          </a:p>
          <a:p>
            <a:pPr marL="0" marR="0" lvl="0" indent="0" algn="l" defTabSz="914400" rtl="0" eaLnBrk="0" fontAlgn="base" latinLnBrk="0" hangingPunct="0">
              <a:lnSpc>
                <a:spcPct val="100000"/>
              </a:lnSpc>
              <a:spcBef>
                <a:spcPct val="0"/>
              </a:spcBef>
              <a:spcAft>
                <a:spcPct val="0"/>
              </a:spcAft>
              <a:buClrTx/>
              <a:buSzTx/>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600" b="1" i="0" u="none" strike="noStrike" cap="none" normalizeH="0" baseline="0" dirty="0">
                <a:ln>
                  <a:noFill/>
                </a:ln>
                <a:solidFill>
                  <a:schemeClr val="tx1"/>
                </a:solidFill>
                <a:effectLst/>
                <a:latin typeface="Arial" panose="020B0604020202020204" pitchFamily="34" charset="0"/>
              </a:rPr>
              <a:t>Database MySQL:-</a:t>
            </a:r>
            <a:endParaRPr lang="en-US" altLang="en-US" sz="16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lang="en-US" altLang="en-US" sz="1600" dirty="0">
                <a:latin typeface="Arial" panose="020B0604020202020204" pitchFamily="34" charset="0"/>
              </a:rPr>
              <a:t>Stores all flight, booking, passenger, and payment information in a structured format. Firebase </a:t>
            </a:r>
            <a:r>
              <a:rPr kumimoji="0" lang="en-US" altLang="en-US" sz="1600" b="0" i="0" u="none" strike="noStrike" cap="none" normalizeH="0" baseline="0" dirty="0">
                <a:ln>
                  <a:noFill/>
                </a:ln>
                <a:solidFill>
                  <a:schemeClr val="tx1"/>
                </a:solidFill>
                <a:effectLst/>
                <a:latin typeface="Arial" panose="020B0604020202020204" pitchFamily="34" charset="0"/>
              </a:rPr>
              <a:t>Can be used for cloud messaging and real-time location tracking.</a:t>
            </a:r>
          </a:p>
          <a:p>
            <a:pPr marL="0" marR="0" lvl="0" indent="0" algn="l" defTabSz="914400" rtl="0" eaLnBrk="0" fontAlgn="base" latinLnBrk="0" hangingPunct="0">
              <a:lnSpc>
                <a:spcPct val="100000"/>
              </a:lnSpc>
              <a:spcBef>
                <a:spcPct val="0"/>
              </a:spcBef>
              <a:spcAft>
                <a:spcPct val="0"/>
              </a:spcAft>
              <a:buClrTx/>
              <a:buSzTx/>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600" b="1" i="0" u="none" strike="noStrike" cap="none" normalizeH="0" baseline="0" dirty="0">
                <a:ln>
                  <a:noFill/>
                </a:ln>
                <a:solidFill>
                  <a:schemeClr val="tx1"/>
                </a:solidFill>
                <a:effectLst/>
                <a:latin typeface="Arial" panose="020B0604020202020204" pitchFamily="34" charset="0"/>
              </a:rPr>
              <a:t>Deployment:-</a:t>
            </a:r>
          </a:p>
          <a:p>
            <a:pPr marL="0" marR="0" lvl="0" indent="0" algn="l" defTabSz="914400" rtl="0" eaLnBrk="0" fontAlgn="base" latinLnBrk="0" hangingPunct="0">
              <a:lnSpc>
                <a:spcPct val="100000"/>
              </a:lnSpc>
              <a:spcBef>
                <a:spcPct val="0"/>
              </a:spcBef>
              <a:spcAft>
                <a:spcPct val="0"/>
              </a:spcAft>
              <a:buClrTx/>
              <a:buSzTx/>
            </a:pPr>
            <a:r>
              <a:rPr lang="en-US" altLang="en-US" sz="1600" dirty="0">
                <a:latin typeface="Arial" panose="020B0604020202020204" pitchFamily="34" charset="0"/>
              </a:rPr>
              <a:t>Local server / Cloud hosting (optional)	Hosts the application for real-time access either locally or via a cloud platform.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8344" y="316733"/>
            <a:ext cx="4925069" cy="923330"/>
          </a:xfrm>
          <a:prstGeom prst="rect">
            <a:avLst/>
          </a:prstGeom>
          <a:noFill/>
        </p:spPr>
        <p:txBody>
          <a:bodyPr wrap="square" rtlCol="0">
            <a:spAutoFit/>
          </a:bodyPr>
          <a:lstStyle/>
          <a:p>
            <a:pPr algn="ctr"/>
            <a:r>
              <a:rPr lang="en-IN" sz="5400" b="1" dirty="0">
                <a:solidFill>
                  <a:schemeClr val="bg1"/>
                </a:solidFill>
                <a:latin typeface="Inter Black" panose="020B0A02050000000004" pitchFamily="34" charset="0"/>
                <a:ea typeface="Inter Black" panose="020B0A02050000000004" pitchFamily="34" charset="0"/>
              </a:rPr>
              <a:t>UI Images </a:t>
            </a:r>
          </a:p>
        </p:txBody>
      </p:sp>
      <p:pic>
        <p:nvPicPr>
          <p:cNvPr id="5" name="Picture 4"/>
          <p:cNvPicPr>
            <a:picLocks noChangeAspect="1"/>
          </p:cNvPicPr>
          <p:nvPr/>
        </p:nvPicPr>
        <p:blipFill>
          <a:blip r:embed="rId2"/>
          <a:stretch>
            <a:fillRect/>
          </a:stretch>
        </p:blipFill>
        <p:spPr>
          <a:xfrm>
            <a:off x="510777" y="2337367"/>
            <a:ext cx="2303762" cy="4130883"/>
          </a:xfrm>
          <a:prstGeom prst="rect">
            <a:avLst/>
          </a:prstGeom>
        </p:spPr>
      </p:pic>
      <p:pic>
        <p:nvPicPr>
          <p:cNvPr id="9" name="Picture 8"/>
          <p:cNvPicPr>
            <a:picLocks noChangeAspect="1"/>
          </p:cNvPicPr>
          <p:nvPr/>
        </p:nvPicPr>
        <p:blipFill>
          <a:blip r:embed="rId3"/>
          <a:stretch>
            <a:fillRect/>
          </a:stretch>
        </p:blipFill>
        <p:spPr>
          <a:xfrm>
            <a:off x="4445588" y="2337367"/>
            <a:ext cx="2303762" cy="4149064"/>
          </a:xfrm>
          <a:prstGeom prst="rect">
            <a:avLst/>
          </a:prstGeom>
        </p:spPr>
      </p:pic>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0399" y="2337368"/>
            <a:ext cx="2543895" cy="4149064"/>
          </a:xfrm>
          <a:prstGeom prst="rect">
            <a:avLst/>
          </a:prstGeom>
        </p:spPr>
      </p:pic>
      <p:sp>
        <p:nvSpPr>
          <p:cNvPr id="12" name="TextBox 11"/>
          <p:cNvSpPr txBox="1"/>
          <p:nvPr/>
        </p:nvSpPr>
        <p:spPr>
          <a:xfrm>
            <a:off x="856526" y="1779872"/>
            <a:ext cx="2187615" cy="369332"/>
          </a:xfrm>
          <a:prstGeom prst="rect">
            <a:avLst/>
          </a:prstGeom>
          <a:noFill/>
        </p:spPr>
        <p:txBody>
          <a:bodyPr wrap="square" rtlCol="0">
            <a:spAutoFit/>
          </a:bodyPr>
          <a:lstStyle/>
          <a:p>
            <a:r>
              <a:rPr lang="en-IN" dirty="0">
                <a:solidFill>
                  <a:schemeClr val="bg1"/>
                </a:solidFill>
              </a:rPr>
              <a:t>Starting page</a:t>
            </a:r>
          </a:p>
        </p:txBody>
      </p:sp>
      <p:sp>
        <p:nvSpPr>
          <p:cNvPr id="14" name="TextBox 13"/>
          <p:cNvSpPr txBox="1"/>
          <p:nvPr/>
        </p:nvSpPr>
        <p:spPr>
          <a:xfrm>
            <a:off x="4776658" y="1779872"/>
            <a:ext cx="1641621" cy="369332"/>
          </a:xfrm>
          <a:prstGeom prst="rect">
            <a:avLst/>
          </a:prstGeom>
          <a:noFill/>
        </p:spPr>
        <p:txBody>
          <a:bodyPr wrap="square">
            <a:spAutoFit/>
          </a:bodyPr>
          <a:lstStyle/>
          <a:p>
            <a:r>
              <a:rPr lang="en-IN" dirty="0">
                <a:solidFill>
                  <a:schemeClr val="bg1"/>
                </a:solidFill>
              </a:rPr>
              <a:t>Home Page</a:t>
            </a:r>
          </a:p>
        </p:txBody>
      </p:sp>
      <p:sp>
        <p:nvSpPr>
          <p:cNvPr id="16" name="TextBox 15"/>
          <p:cNvSpPr txBox="1"/>
          <p:nvPr/>
        </p:nvSpPr>
        <p:spPr>
          <a:xfrm>
            <a:off x="8750967" y="1779872"/>
            <a:ext cx="1802758" cy="369332"/>
          </a:xfrm>
          <a:prstGeom prst="rect">
            <a:avLst/>
          </a:prstGeom>
          <a:noFill/>
        </p:spPr>
        <p:txBody>
          <a:bodyPr wrap="square">
            <a:spAutoFit/>
          </a:bodyPr>
          <a:lstStyle/>
          <a:p>
            <a:r>
              <a:rPr lang="en-IN" dirty="0">
                <a:solidFill>
                  <a:schemeClr val="bg1"/>
                </a:solidFill>
              </a:rPr>
              <a:t>Message alert</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98306"/>
            <a:ext cx="4563889" cy="769441"/>
          </a:xfrm>
          <a:prstGeom prst="rect">
            <a:avLst/>
          </a:prstGeom>
          <a:noFill/>
        </p:spPr>
        <p:txBody>
          <a:bodyPr wrap="square" rtlCol="0">
            <a:spAutoFit/>
          </a:bodyPr>
          <a:lstStyle/>
          <a:p>
            <a:pPr algn="ctr"/>
            <a:r>
              <a:rPr lang="en-IN" sz="4400" dirty="0">
                <a:solidFill>
                  <a:schemeClr val="bg1"/>
                </a:solidFill>
                <a:latin typeface="Ubuntu" panose="020B0504030602030204" pitchFamily="34" charset="0"/>
                <a:ea typeface="Inter Black" panose="020B0A02050000000004" pitchFamily="34" charset="0"/>
              </a:rPr>
              <a:t>Future Scope</a:t>
            </a:r>
          </a:p>
        </p:txBody>
      </p:sp>
      <p:sp>
        <p:nvSpPr>
          <p:cNvPr id="3" name="Rectangle 1"/>
          <p:cNvSpPr>
            <a:spLocks noChangeArrowheads="1"/>
          </p:cNvSpPr>
          <p:nvPr/>
        </p:nvSpPr>
        <p:spPr bwMode="auto">
          <a:xfrm>
            <a:off x="597159" y="3718678"/>
            <a:ext cx="9229747" cy="1258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7" name="Rectangle 4"/>
          <p:cNvSpPr>
            <a:spLocks noChangeArrowheads="1"/>
          </p:cNvSpPr>
          <p:nvPr/>
        </p:nvSpPr>
        <p:spPr bwMode="auto">
          <a:xfrm>
            <a:off x="298579" y="1233800"/>
            <a:ext cx="11594841"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1600" b="1" i="0" u="none" strike="noStrike" cap="none" normalizeH="0" baseline="0" dirty="0">
                <a:ln>
                  <a:noFill/>
                </a:ln>
                <a:solidFill>
                  <a:schemeClr val="bg1"/>
                </a:solidFill>
                <a:effectLst/>
                <a:latin typeface="Arial" panose="020B0604020202020204" pitchFamily="34" charset="0"/>
              </a:rPr>
              <a:t>AI-Based Pricing Optimization:-</a:t>
            </a:r>
          </a:p>
          <a:p>
            <a:pPr marL="0" marR="0" lvl="0" indent="0" algn="l" defTabSz="914400" rtl="0" eaLnBrk="0" fontAlgn="base" latinLnBrk="0" hangingPunct="0">
              <a:lnSpc>
                <a:spcPct val="100000"/>
              </a:lnSpc>
              <a:spcBef>
                <a:spcPct val="0"/>
              </a:spcBef>
              <a:spcAft>
                <a:spcPct val="0"/>
              </a:spcAft>
              <a:buClrTx/>
              <a:buSzTx/>
            </a:pPr>
            <a:r>
              <a:rPr lang="en-US" altLang="en-US" sz="1600" dirty="0">
                <a:solidFill>
                  <a:schemeClr val="bg1"/>
                </a:solidFill>
                <a:latin typeface="Arial" panose="020B0604020202020204" pitchFamily="34" charset="0"/>
              </a:rPr>
              <a:t>Implement machine learning models to analyze demand, seasonality, and competitor pricing for dynamic ticket pricing.</a:t>
            </a:r>
          </a:p>
          <a:p>
            <a:pPr marL="0" marR="0" lvl="0" indent="0" algn="l" defTabSz="914400" rtl="0" eaLnBrk="0" fontAlgn="base" latinLnBrk="0" hangingPunct="0">
              <a:lnSpc>
                <a:spcPct val="100000"/>
              </a:lnSpc>
              <a:spcBef>
                <a:spcPct val="0"/>
              </a:spcBef>
              <a:spcAft>
                <a:spcPct val="0"/>
              </a:spcAft>
              <a:buClrTx/>
              <a:buSzTx/>
            </a:pPr>
            <a:endParaRPr lang="en-US" altLang="en-US" sz="16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600" b="1" i="0" u="none" strike="noStrike" cap="none" normalizeH="0" baseline="0" dirty="0">
                <a:ln>
                  <a:noFill/>
                </a:ln>
                <a:solidFill>
                  <a:schemeClr val="bg1"/>
                </a:solidFill>
                <a:effectLst/>
                <a:latin typeface="Arial" panose="020B0604020202020204" pitchFamily="34" charset="0"/>
              </a:rPr>
              <a:t>Cloud Integration:-</a:t>
            </a:r>
          </a:p>
          <a:p>
            <a:pPr marL="0" marR="0" lvl="0" indent="0" algn="l" defTabSz="914400" rtl="0" eaLnBrk="0" fontAlgn="base" latinLnBrk="0" hangingPunct="0">
              <a:lnSpc>
                <a:spcPct val="100000"/>
              </a:lnSpc>
              <a:spcBef>
                <a:spcPct val="0"/>
              </a:spcBef>
              <a:spcAft>
                <a:spcPct val="0"/>
              </a:spcAft>
              <a:buClrTx/>
              <a:buSzTx/>
            </a:pPr>
            <a:r>
              <a:rPr lang="en-US" altLang="en-US" sz="1600" dirty="0">
                <a:solidFill>
                  <a:schemeClr val="bg1"/>
                </a:solidFill>
                <a:latin typeface="Arial" panose="020B0604020202020204" pitchFamily="34" charset="0"/>
              </a:rPr>
              <a:t>Migrate the system to a cloud-based platform for better scalability, availability, and real-time data synchronization across multiple locations.</a:t>
            </a:r>
          </a:p>
          <a:p>
            <a:pPr marL="0" marR="0" lvl="0" indent="0" algn="l" defTabSz="914400" rtl="0" eaLnBrk="0" fontAlgn="base" latinLnBrk="0" hangingPunct="0">
              <a:lnSpc>
                <a:spcPct val="100000"/>
              </a:lnSpc>
              <a:spcBef>
                <a:spcPct val="0"/>
              </a:spcBef>
              <a:spcAft>
                <a:spcPct val="0"/>
              </a:spcAft>
              <a:buClrTx/>
              <a:buSzTx/>
            </a:pPr>
            <a:endParaRPr kumimoji="0" lang="en-US" altLang="en-US" sz="16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600" b="1" i="0" u="none" strike="noStrike" cap="none" normalizeH="0" baseline="0" dirty="0">
                <a:ln>
                  <a:noFill/>
                </a:ln>
                <a:solidFill>
                  <a:schemeClr val="bg1"/>
                </a:solidFill>
                <a:effectLst/>
                <a:latin typeface="Arial" panose="020B0604020202020204" pitchFamily="34" charset="0"/>
              </a:rPr>
              <a:t>Mobile Application Support:-</a:t>
            </a:r>
          </a:p>
          <a:p>
            <a:pPr marL="0" marR="0" lvl="0" indent="0" algn="l" defTabSz="914400" rtl="0" eaLnBrk="0" fontAlgn="base" latinLnBrk="0" hangingPunct="0">
              <a:lnSpc>
                <a:spcPct val="100000"/>
              </a:lnSpc>
              <a:spcBef>
                <a:spcPct val="0"/>
              </a:spcBef>
              <a:spcAft>
                <a:spcPct val="0"/>
              </a:spcAft>
              <a:buClrTx/>
              <a:buSzTx/>
            </a:pPr>
            <a:r>
              <a:rPr lang="en-US" altLang="en-US" sz="1600" dirty="0">
                <a:solidFill>
                  <a:schemeClr val="bg1"/>
                </a:solidFill>
                <a:latin typeface="Arial" panose="020B0604020202020204" pitchFamily="34" charset="0"/>
              </a:rPr>
              <a:t>Develop a mobile app for passengers to book tickets, track flights, and receive notifications.</a:t>
            </a:r>
          </a:p>
          <a:p>
            <a:pPr marL="0" marR="0" lvl="0" indent="0" algn="l" defTabSz="914400" rtl="0" eaLnBrk="0" fontAlgn="base" latinLnBrk="0" hangingPunct="0">
              <a:lnSpc>
                <a:spcPct val="100000"/>
              </a:lnSpc>
              <a:spcBef>
                <a:spcPct val="0"/>
              </a:spcBef>
              <a:spcAft>
                <a:spcPct val="0"/>
              </a:spcAft>
              <a:buClrTx/>
              <a:buSzTx/>
            </a:pPr>
            <a:endParaRPr lang="en-US" altLang="en-US" sz="16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600" b="1" i="0" u="none" strike="noStrike" cap="none" normalizeH="0" baseline="0" dirty="0">
                <a:ln>
                  <a:noFill/>
                </a:ln>
                <a:solidFill>
                  <a:schemeClr val="bg1"/>
                </a:solidFill>
                <a:effectLst/>
                <a:latin typeface="Arial" panose="020B0604020202020204" pitchFamily="34" charset="0"/>
              </a:rPr>
              <a:t>Blockchain for Secure Transactions:-</a:t>
            </a:r>
          </a:p>
          <a:p>
            <a:pPr marL="0" marR="0" lvl="0" indent="0" algn="l" defTabSz="914400" rtl="0" eaLnBrk="0" fontAlgn="base" latinLnBrk="0" hangingPunct="0">
              <a:lnSpc>
                <a:spcPct val="100000"/>
              </a:lnSpc>
              <a:spcBef>
                <a:spcPct val="0"/>
              </a:spcBef>
              <a:spcAft>
                <a:spcPct val="0"/>
              </a:spcAft>
              <a:buClrTx/>
              <a:buSzTx/>
            </a:pPr>
            <a:r>
              <a:rPr lang="en-US" altLang="en-US" sz="1600" dirty="0">
                <a:solidFill>
                  <a:schemeClr val="bg1"/>
                </a:solidFill>
                <a:latin typeface="Arial" panose="020B0604020202020204" pitchFamily="34" charset="0"/>
              </a:rPr>
              <a:t>Implement blockchain-based ticketing and payment systems to enhance security and transparency in transactions</a:t>
            </a:r>
            <a:r>
              <a:rPr kumimoji="0" lang="en-US" altLang="en-US" sz="1600" b="1"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pPr>
            <a:endParaRPr lang="en-US" altLang="en-US" sz="16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600" b="1" i="0" u="none" strike="noStrike" cap="none" normalizeH="0" baseline="0" dirty="0">
                <a:ln>
                  <a:noFill/>
                </a:ln>
                <a:solidFill>
                  <a:schemeClr val="bg1"/>
                </a:solidFill>
                <a:effectLst/>
                <a:latin typeface="Arial" panose="020B0604020202020204" pitchFamily="34" charset="0"/>
              </a:rPr>
              <a:t>Enhanced Passenger Experience with AI Chatbots:-</a:t>
            </a:r>
          </a:p>
          <a:p>
            <a:pPr marL="0" marR="0" lvl="0" indent="0" algn="l" defTabSz="914400" rtl="0" eaLnBrk="0" fontAlgn="base" latinLnBrk="0" hangingPunct="0">
              <a:lnSpc>
                <a:spcPct val="100000"/>
              </a:lnSpc>
              <a:spcBef>
                <a:spcPct val="0"/>
              </a:spcBef>
              <a:spcAft>
                <a:spcPct val="0"/>
              </a:spcAft>
              <a:buClrTx/>
              <a:buSzTx/>
            </a:pPr>
            <a:r>
              <a:rPr lang="en-US" altLang="en-US" sz="1600" dirty="0">
                <a:solidFill>
                  <a:schemeClr val="bg1"/>
                </a:solidFill>
                <a:latin typeface="Arial" panose="020B0604020202020204" pitchFamily="34" charset="0"/>
              </a:rPr>
              <a:t>Introduce AI-powered virtual assistants to handle customer queries, booking assistance, and flight status updates.</a:t>
            </a:r>
          </a:p>
          <a:p>
            <a:pPr marL="0" marR="0" lvl="0" indent="0" algn="l" defTabSz="914400" rtl="0" eaLnBrk="0" fontAlgn="base" latinLnBrk="0" hangingPunct="0">
              <a:lnSpc>
                <a:spcPct val="100000"/>
              </a:lnSpc>
              <a:spcBef>
                <a:spcPct val="0"/>
              </a:spcBef>
              <a:spcAft>
                <a:spcPct val="0"/>
              </a:spcAft>
              <a:buClrTx/>
              <a:buSzTx/>
            </a:pPr>
            <a:endParaRPr kumimoji="0" lang="en-US" altLang="en-US" sz="16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b="1" i="0" u="none" strike="noStrike" cap="none" normalizeH="0" baseline="0" dirty="0">
                <a:ln>
                  <a:noFill/>
                </a:ln>
                <a:solidFill>
                  <a:schemeClr val="bg1"/>
                </a:solidFill>
                <a:effectLst/>
                <a:latin typeface="Arial" panose="020B0604020202020204" pitchFamily="34" charset="0"/>
              </a:rPr>
              <a:t>IoT-Based Smart Airport Integration:-</a:t>
            </a:r>
            <a:endParaRPr kumimoji="0" lang="en-US" altLang="en-US"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600" dirty="0">
                <a:solidFill>
                  <a:schemeClr val="bg1"/>
                </a:solidFill>
                <a:latin typeface="Arial" panose="020B0604020202020204" pitchFamily="34" charset="0"/>
              </a:rPr>
              <a:t>Connect with IoT devices at airports for real-time baggage tracking, automated check-ins, and improved passenger navigation.</a:t>
            </a:r>
          </a:p>
          <a:p>
            <a:pPr marL="0" marR="0" lvl="0" indent="0" algn="l" defTabSz="914400" rtl="0" eaLnBrk="0" fontAlgn="base" latinLnBrk="0" hangingPunct="0">
              <a:lnSpc>
                <a:spcPct val="100000"/>
              </a:lnSpc>
              <a:spcBef>
                <a:spcPct val="0"/>
              </a:spcBef>
              <a:spcAft>
                <a:spcPct val="0"/>
              </a:spcAft>
              <a:buClrTx/>
              <a:buSzTx/>
            </a:pPr>
            <a:endParaRPr lang="en-US" altLang="en-US" sz="1600" dirty="0">
              <a:solidFill>
                <a:schemeClr val="bg1"/>
              </a:solidFill>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82043" y="1542781"/>
            <a:ext cx="4563889" cy="769441"/>
          </a:xfrm>
          <a:prstGeom prst="rect">
            <a:avLst/>
          </a:prstGeom>
          <a:noFill/>
        </p:spPr>
        <p:txBody>
          <a:bodyPr wrap="square" rtlCol="0">
            <a:spAutoFit/>
          </a:bodyPr>
          <a:lstStyle/>
          <a:p>
            <a:pPr algn="ctr"/>
            <a:r>
              <a:rPr lang="en-IN" sz="4400" dirty="0">
                <a:solidFill>
                  <a:schemeClr val="bg1"/>
                </a:solidFill>
                <a:latin typeface="Ubuntu" panose="020B0504030602030204" pitchFamily="34" charset="0"/>
                <a:ea typeface="Inter Black" panose="020B0A02050000000004" pitchFamily="34" charset="0"/>
              </a:rPr>
              <a:t>Conclusion</a:t>
            </a:r>
          </a:p>
        </p:txBody>
      </p:sp>
      <p:sp>
        <p:nvSpPr>
          <p:cNvPr id="4" name="TextBox 3"/>
          <p:cNvSpPr txBox="1"/>
          <p:nvPr/>
        </p:nvSpPr>
        <p:spPr>
          <a:xfrm>
            <a:off x="1378209" y="2767280"/>
            <a:ext cx="9435581" cy="1323439"/>
          </a:xfrm>
          <a:prstGeom prst="rect">
            <a:avLst/>
          </a:prstGeom>
          <a:noFill/>
        </p:spPr>
        <p:txBody>
          <a:bodyPr wrap="square">
            <a:spAutoFit/>
          </a:bodyPr>
          <a:lstStyle/>
          <a:p>
            <a:r>
              <a:rPr lang="en-US" sz="1600" dirty="0">
                <a:solidFill>
                  <a:schemeClr val="bg1"/>
                </a:solidFill>
                <a:latin typeface="Arial" panose="020B0604020202020204" pitchFamily="34" charset="0"/>
              </a:rPr>
              <a:t>The Flight Operation Hub is a smart, automated system designed to simplify airline operations like booking, scheduling, cancellations, and secure payments. It reduces manual work, improves efficiency, and enhances user experience for both passengers and airline staff. With future enhancements like AI-based pricing, cloud support, mobile apps, and biometric security, this project can evolve into a comprehensive, next-gen airline management platform—offering innovation, scalability, and reliability.</a:t>
            </a:r>
            <a:endParaRPr lang="en-IN" sz="1600" dirty="0">
              <a:solidFill>
                <a:schemeClr val="bg1"/>
              </a:solidFill>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8690" y="2967335"/>
            <a:ext cx="10751419" cy="923330"/>
          </a:xfrm>
          <a:prstGeom prst="rect">
            <a:avLst/>
          </a:prstGeom>
          <a:noFill/>
        </p:spPr>
        <p:txBody>
          <a:bodyPr wrap="square" rtlCol="0">
            <a:spAutoFit/>
          </a:bodyPr>
          <a:lstStyle/>
          <a:p>
            <a:pPr algn="ctr"/>
            <a:r>
              <a:rPr lang="en-IN" sz="5400" b="1" dirty="0">
                <a:solidFill>
                  <a:schemeClr val="bg1"/>
                </a:solidFill>
                <a:latin typeface="Inter Black" panose="020B0A02050000000004" pitchFamily="34" charset="0"/>
                <a:ea typeface="Inter Black" panose="020B0A02050000000004" pitchFamily="34" charset="0"/>
              </a:rPr>
              <a:t>Thank you</a:t>
            </a:r>
          </a:p>
        </p:txBody>
      </p:sp>
    </p:spTree>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TotalTime>
  <Words>784</Words>
  <Application>Microsoft Office PowerPoint</Application>
  <PresentationFormat>Widescreen</PresentationFormat>
  <Paragraphs>149</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Amazon Ember</vt:lpstr>
      <vt:lpstr>Arial</vt:lpstr>
      <vt:lpstr>Calibri</vt:lpstr>
      <vt:lpstr>Calibri Light</vt:lpstr>
      <vt:lpstr>Inter Black</vt:lpstr>
      <vt:lpstr>Ubuntu</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Abhi Gupta</dc:creator>
  <cp:lastModifiedBy>Omkar Katore</cp:lastModifiedBy>
  <cp:revision>34</cp:revision>
  <dcterms:created xsi:type="dcterms:W3CDTF">2023-02-26T05:38:00Z</dcterms:created>
  <dcterms:modified xsi:type="dcterms:W3CDTF">2025-04-11T06:27:34Z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F270B7272AF141749F2D4CECD0452903_12</vt:lpwstr>
  </property>
  <property fmtid="{D5CDD505-2E9C-101B-9397-08002B2CF9AE}" pid="3" name="KSOProductBuildVer">
    <vt:lpwstr>1033-12.2.0.19805</vt:lpwstr>
  </property>
</Properties>
</file>